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bd520779854e8a" /><Relationship Type="http://schemas.openxmlformats.org/officeDocument/2006/relationships/extended-properties" Target="/docProps/app.xml" Id="R09f983d0d23c40b0" /><Relationship Type="http://schemas.openxmlformats.org/officeDocument/2006/relationships/officeDocument" Target="/ppt/presentation.xml" Id="R71f23d54a7b44d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a7310edd1f486a"/>
  </p:sldMasterIdLst>
  <p:notesMasterIdLst>
    <p:notesMasterId xmlns:r="http://schemas.openxmlformats.org/officeDocument/2006/relationships" r:id="R71e3d62667b448db"/>
  </p:notesMasterIdLst>
  <p:sldIdLst>
    <p:sldId xmlns:r="http://schemas.openxmlformats.org/officeDocument/2006/relationships" id="256" r:id="R0c2738d0b8904dbc"/>
    <p:sldId xmlns:r="http://schemas.openxmlformats.org/officeDocument/2006/relationships" id="257" r:id="R29a12638f91f46d1"/>
    <p:sldId xmlns:r="http://schemas.openxmlformats.org/officeDocument/2006/relationships" id="258" r:id="R05b7d951927d41dd"/>
    <p:sldId xmlns:r="http://schemas.openxmlformats.org/officeDocument/2006/relationships" id="259" r:id="Ra88995c80ca145d5"/>
    <p:sldId xmlns:r="http://schemas.openxmlformats.org/officeDocument/2006/relationships" id="260" r:id="Re599e9ae19c7452a"/>
    <p:sldId xmlns:r="http://schemas.openxmlformats.org/officeDocument/2006/relationships" id="261" r:id="Re69109e6255b4363"/>
    <p:sldId xmlns:r="http://schemas.openxmlformats.org/officeDocument/2006/relationships" id="262" r:id="Rec56c19b4cd64124"/>
    <p:sldId xmlns:r="http://schemas.openxmlformats.org/officeDocument/2006/relationships" id="263" r:id="R908a27f76d9842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108b27ef7249b7" /><Relationship Type="http://schemas.openxmlformats.org/officeDocument/2006/relationships/slideMaster" Target="/ppt/slideMasters/slideMaster1.xml" Id="R29a7310edd1f486a" /><Relationship Type="http://schemas.openxmlformats.org/officeDocument/2006/relationships/notesMaster" Target="/ppt/notesMasters/notesMaster1.xml" Id="R71e3d62667b448db" /><Relationship Type="http://schemas.openxmlformats.org/officeDocument/2006/relationships/presProps" Target="/ppt/presProps.xml" Id="R286367878a904e7c" /><Relationship Type="http://schemas.openxmlformats.org/officeDocument/2006/relationships/tableStyles" Target="/ppt/tableStyles.xml" Id="R5f06e771eed84fbb" /><Relationship Type="http://schemas.openxmlformats.org/officeDocument/2006/relationships/slide" Target="/ppt/slides/slide1.xml" Id="R0c2738d0b8904dbc" /><Relationship Type="http://schemas.openxmlformats.org/officeDocument/2006/relationships/slide" Target="/ppt/slides/slide2.xml" Id="R29a12638f91f46d1" /><Relationship Type="http://schemas.openxmlformats.org/officeDocument/2006/relationships/slide" Target="/ppt/slides/slide3.xml" Id="R05b7d951927d41dd" /><Relationship Type="http://schemas.openxmlformats.org/officeDocument/2006/relationships/slide" Target="/ppt/slides/slide4.xml" Id="Ra88995c80ca145d5" /><Relationship Type="http://schemas.openxmlformats.org/officeDocument/2006/relationships/slide" Target="/ppt/slides/slide5.xml" Id="Re599e9ae19c7452a" /><Relationship Type="http://schemas.openxmlformats.org/officeDocument/2006/relationships/slide" Target="/ppt/slides/slide6.xml" Id="Re69109e6255b4363" /><Relationship Type="http://schemas.openxmlformats.org/officeDocument/2006/relationships/slide" Target="/ppt/slides/slide7.xml" Id="Rec56c19b4cd64124" /><Relationship Type="http://schemas.openxmlformats.org/officeDocument/2006/relationships/slide" Target="/ppt/slides/slide8.xml" Id="R908a27f76d9842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43c6e5e78846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8771fb0860424d" /><Relationship Type="http://schemas.openxmlformats.org/officeDocument/2006/relationships/notesMaster" Target="/ppt/notesMasters/notesMaster1.xml" Id="Rb754e7c3e9214b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ffb2d7bf6743bf" /><Relationship Type="http://schemas.openxmlformats.org/officeDocument/2006/relationships/notesMaster" Target="/ppt/notesMasters/notesMaster1.xml" Id="R4d01ae2a133f48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ed18f9cbe143c6" /><Relationship Type="http://schemas.openxmlformats.org/officeDocument/2006/relationships/notesMaster" Target="/ppt/notesMasters/notesMaster1.xml" Id="Rcc73f89e1aac49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a41388c1e240fb" /><Relationship Type="http://schemas.openxmlformats.org/officeDocument/2006/relationships/notesMaster" Target="/ppt/notesMasters/notesMaster1.xml" Id="R79269386d7b34c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475b45960e4097" /><Relationship Type="http://schemas.openxmlformats.org/officeDocument/2006/relationships/notesMaster" Target="/ppt/notesMasters/notesMaster1.xml" Id="R1bebaaa32b3840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23313295274451" /><Relationship Type="http://schemas.openxmlformats.org/officeDocument/2006/relationships/notesMaster" Target="/ppt/notesMasters/notesMaster1.xml" Id="Rf35aca67f0444b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ed632ad1e84239" /><Relationship Type="http://schemas.openxmlformats.org/officeDocument/2006/relationships/notesMaster" Target="/ppt/notesMasters/notesMaster1.xml" Id="R3cdc3c55dae044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b76cd5920743c8" /><Relationship Type="http://schemas.openxmlformats.org/officeDocument/2006/relationships/notesMaster" Target="/ppt/notesMasters/notesMaster1.xml" Id="Rfe7ccf9dfdf143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C:\Users\A8327\OneDrive\Documents\OI\work\loo_simulation\DGP_ESTIMATOR_RESULTS.tex</a:t>
            </a:r>
          </a:p>
          <a:p xmlns:a="http://schemas.openxmlformats.org/drawingml/2006/main">
            <a:r>
              <a:t>- C:\Users\A8327\OneDrive\Documents\OI\work\loo_simulation\results\dgp_estimator_matrix_cluster_v2\merged\config.json</a:t>
            </a:r>
          </a:p>
          <a:p xmlns:a="http://schemas.openxmlformats.org/drawingml/2006/main">
            <a:r>
              <a:t>- C:\Users\A8327\OneDrive\Documents\OI\work\loo_simulation\results\dgp_estimator_matrix_cluster_v2\merged\metadata.json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C:\Users\A8327\OneDrive\Documents\OI\work\loo_simulation\DGP_ESTIMATOR_RESULTS.tex</a:t>
            </a:r>
          </a:p>
          <a:p xmlns:a="http://schemas.openxmlformats.org/drawingml/2006/main">
            <a:r>
              <a:t>- C:\Users\A8327\OneDrive\Documents\OI\work\loo_simulation\reports\dgp_estimator_matrix_cluster_v2\figures\status-matrix.png</a:t>
            </a:r>
          </a:p>
          <a:p xmlns:a="http://schemas.openxmlformats.org/drawingml/2006/main">
            <a:r>
              <a:t>- C:\Users\A8327\OneDrive\Documents\OI\work\loo_simulation\results\dgp_estimator_matrix_cluster_v2\merged\attempt_summary.csv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C:\Users\A8327\OneDrive\Documents\OI\work\loo_simulation\reports\dgp_estimator_matrix_cluster_v2\figures\common-target-rmse.png</a:t>
            </a:r>
          </a:p>
          <a:p xmlns:a="http://schemas.openxmlformats.org/drawingml/2006/main">
            <a:r>
              <a:t>- C:\Users\A8327\OneDrive\Documents\OI\work\loo_simulation\reports\dgp_estimator_matrix_cluster_v2\tables\benchmark_accuracy.tex</a:t>
            </a:r>
          </a:p>
          <a:p xmlns:a="http://schemas.openxmlformats.org/drawingml/2006/main">
            <a:r>
              <a:t>- C:\Users\A8327\OneDrive\Documents\OI\work\loo_simulation\DGP_ESTIMATOR_RESULTS.tex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C:\Users\A8327\OneDrive\Documents\OI\work\loo_simulation\reports\dgp_estimator_matrix_cluster_v2\figures\rank-selection.png</a:t>
            </a:r>
          </a:p>
          <a:p xmlns:a="http://schemas.openxmlformats.org/drawingml/2006/main">
            <a:r>
              <a:t>- C:\Users\A8327\OneDrive\Documents\OI\work\loo_simulation\reports\dgp_estimator_matrix_cluster_v2\tables\rank_selection.csv</a:t>
            </a:r>
          </a:p>
          <a:p xmlns:a="http://schemas.openxmlformats.org/drawingml/2006/main">
            <a:r>
              <a:t>- C:\Users\A8327\OneDrive\Documents\OI\work\loo_simulation\results\dgp_estimator_matrix_cluster_v2\merged\attempt_summary.csv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C:\Users\A8327\OneDrive\Documents\OI\work\loo_simulation\reports\dgp_estimator_matrix_cluster_v2\figures\project-returned-vs-stable-rmse.png</a:t>
            </a:r>
          </a:p>
          <a:p xmlns:a="http://schemas.openxmlformats.org/drawingml/2006/main">
            <a:r>
              <a:t>- C:\Users\A8327\OneDrive\Documents\OI\work\loo_simulation\DGP_ESTIMATOR_RESULTS.tex</a:t>
            </a:r>
          </a:p>
          <a:p xmlns:a="http://schemas.openxmlformats.org/drawingml/2006/main">
            <a:r>
              <a:t>- C:\Users\A8327\OneDrive\Documents\OI\work\loo_simulation\reports\dgp_estimator_matrix_cluster_v2\tables\common_target_performance.csv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C:\Users\A8327\OneDrive\Documents\OI\work\loo_simulation\reports\dgp_estimator_matrix_cluster_v2\tables\project_numerical_diagnostics.csv</a:t>
            </a:r>
          </a:p>
          <a:p xmlns:a="http://schemas.openxmlformats.org/drawingml/2006/main">
            <a:r>
              <a:t>- C:\Users\A8327\OneDrive\Documents\OI\work\loo_simulation\DGP_ESTIMATOR_RESULTS.tex</a:t>
            </a:r>
          </a:p>
          <a:p xmlns:a="http://schemas.openxmlformats.org/drawingml/2006/main">
            <a:r>
              <a:t>- C:\Users\A8327\OneDrive\Documents\OI\work\loo_simulation\src\loo_sim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C:\Users\A8327\OneDrive\Documents\OI\work\loo_simulation\reports\dgp_estimator_matrix_cluster_v2\figures\native-project-target-gaps.png</a:t>
            </a:r>
          </a:p>
          <a:p xmlns:a="http://schemas.openxmlformats.org/drawingml/2006/main">
            <a:r>
              <a:t>- C:\Users\A8327\OneDrive\Documents\OI\work\loo_simulation\reports\dgp_estimator_matrix_cluster_v2\tables\native_project_target_contrasts.csv</a:t>
            </a:r>
          </a:p>
          <a:p xmlns:a="http://schemas.openxmlformats.org/drawingml/2006/main">
            <a:r>
              <a:t>- C:\Users\A8327\OneDrive\Documents\OI\work\loo_simulation\reports\dgp_estimator_matrix_cluster_v2\tables\bs20_native_accuracy.csv</a:t>
            </a:r>
          </a:p>
          <a:p xmlns:a="http://schemas.openxmlformats.org/drawingml/2006/main">
            <a:r>
              <a:t>- C:\Users\A8327\OneDrive\Documents\OI\work\loo_simulation\DGP_ESTIMATOR_RESULTS.tex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C:\Users\A8327\OneDrive\Documents\OI\work\loo_simulation\DGP_ESTIMATOR_RESULTS.tex</a:t>
            </a:r>
          </a:p>
          <a:p xmlns:a="http://schemas.openxmlformats.org/drawingml/2006/main">
            <a:r>
              <a:t>- C:\Users\A8327\OneDrive\Documents\OI\work\loo_simulation\reports\dgp_estimator_matrix_cluster_v2</a:t>
            </a:r>
          </a:p>
          <a:p xmlns:a="http://schemas.openxmlformats.org/drawingml/2006/main">
            <a:r>
              <a:t>- C:\Users\A8327\OneDrive\Documents\OI\work\loo_simulation\results\dgp_estimator_matrix_cluster_v2\merged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f5f9773ef64a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d9b29078ee49af" /><Relationship Type="http://schemas.openxmlformats.org/officeDocument/2006/relationships/slideLayout" Target="/ppt/slideLayouts/slideLayout1.xml" Id="R2714af99ff1644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14af99ff1644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d6686c3f4484c" /><Relationship Type="http://schemas.openxmlformats.org/officeDocument/2006/relationships/notesSlide" Target="/ppt/notesSlides/notesSlide1.xml" Id="R4be83ad9fb2d4a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c79f890574a67" /><Relationship Type="http://schemas.openxmlformats.org/officeDocument/2006/relationships/image" Target="/ppt/media/image.png" Id="R11d6b0ede3a24268" /><Relationship Type="http://schemas.openxmlformats.org/officeDocument/2006/relationships/notesSlide" Target="/ppt/notesSlides/notesSlide2.xml" Id="R90d95f56cb9f44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d77e7ce20469b" /><Relationship Type="http://schemas.openxmlformats.org/officeDocument/2006/relationships/image" Target="/ppt/media/image2.png" Id="R276e9ce280a44675" /><Relationship Type="http://schemas.openxmlformats.org/officeDocument/2006/relationships/notesSlide" Target="/ppt/notesSlides/notesSlide3.xml" Id="R89d26ec8073d46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7c3ad75cab4fc0" /><Relationship Type="http://schemas.openxmlformats.org/officeDocument/2006/relationships/image" Target="/ppt/media/image3.png" Id="R3602a9d7721e4fb8" /><Relationship Type="http://schemas.openxmlformats.org/officeDocument/2006/relationships/notesSlide" Target="/ppt/notesSlides/notesSlide4.xml" Id="Rd2fdab36708d43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f2d02d3214c47" /><Relationship Type="http://schemas.openxmlformats.org/officeDocument/2006/relationships/image" Target="/ppt/media/image4.png" Id="R8975bd403d1340cb" /><Relationship Type="http://schemas.openxmlformats.org/officeDocument/2006/relationships/image" Target="/ppt/media/image5.png" Id="Rbd54dfdb12b241d8" /><Relationship Type="http://schemas.openxmlformats.org/officeDocument/2006/relationships/notesSlide" Target="/ppt/notesSlides/notesSlide5.xml" Id="Re8e0fe3f109f43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5156c3c91413a" /><Relationship Type="http://schemas.openxmlformats.org/officeDocument/2006/relationships/notesSlide" Target="/ppt/notesSlides/notesSlide6.xml" Id="R3e85e56e2d5343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a4bb7faba4156" /><Relationship Type="http://schemas.openxmlformats.org/officeDocument/2006/relationships/image" Target="/ppt/media/image6.png" Id="Ra9e47b199e5c4908" /><Relationship Type="http://schemas.openxmlformats.org/officeDocument/2006/relationships/notesSlide" Target="/ppt/notesSlides/notesSlide7.xml" Id="Rf7fb013739b64a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d9200d08d437c" /><Relationship Type="http://schemas.openxmlformats.org/officeDocument/2006/relationships/notesSlide" Target="/ppt/notesSlides/notesSlide8.xml" Id="R40fb0030564c41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ver-overline">
            <a:extLst xmlns:a="http://schemas.openxmlformats.org/drawingml/2006/main">
              <a:ext uri="{FF2B5EF4-FFF2-40B4-BE49-F238E27FC236}">
                <a16:creationId xmlns:a16="http://schemas.microsoft.com/office/drawing/2014/main" id="{1F27148F-6A90-4ECC-BF79-78AC82CF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LOO PROJECT · PRODUCTION MONTE CARLO</a:t>
            </a:r>
          </a:p>
        </p:txBody>
      </p:sp>
      <p:sp>
        <p:nvSpPr>
          <p:cNvPr id="2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91427FD9-5E7B-4608-851E-4D6EEC87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95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6D4F8E2-DA28-4F24-8223-3BB5999D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9715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a full</a:t>
            </a:r>
          </a:p>
          <a:p xmlns:a="http://schemas.openxmlformats.org/drawingml/2006/main">
            <a:pPr algn="l">
              <a:defRPr sz="4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DGP × procedure comparison?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186C8F7-F985-4DCE-983F-A6286911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A visual summary of 500 simulated labor markets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88F7944E-BD2E-411C-A2BB-A1977B10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design">
            <a:extLst xmlns:a="http://schemas.openxmlformats.org/drawingml/2006/main">
              <a:ext uri="{FF2B5EF4-FFF2-40B4-BE49-F238E27FC236}">
                <a16:creationId xmlns:a16="http://schemas.microsoft.com/office/drawing/2014/main" id="{881401FD-8A9C-4FCE-94BB-2771CE28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25,000 workers  ·  5,000 firms  ·  60 periods  ·  100 replications per DGP</a:t>
            </a:r>
          </a:p>
        </p:txBody>
      </p:sp>
      <p:sp>
        <p:nvSpPr>
          <p:cNvPr id="7" name="cover-caveat">
            <a:extLst xmlns:a="http://schemas.openxmlformats.org/drawingml/2006/main">
              <a:ext uri="{FF2B5EF4-FFF2-40B4-BE49-F238E27FC236}">
                <a16:creationId xmlns:a16="http://schemas.microsoft.com/office/drawing/2014/main" id="{06EF694E-5C89-4400-A6E5-8D4C5576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Current project procedure: BIC-selected low-rank plug-in; full LOO bias correction not yet evaluated.</a:t>
            </a:r>
          </a:p>
        </p:txBody>
      </p:sp>
      <p:sp>
        <p:nvSpPr>
          <p:cNvPr id="8" name="slide-1-footer-label">
            <a:extLst xmlns:a="http://schemas.openxmlformats.org/drawingml/2006/main">
              <a:ext uri="{FF2B5EF4-FFF2-40B4-BE49-F238E27FC236}">
                <a16:creationId xmlns:a16="http://schemas.microsoft.com/office/drawing/2014/main" id="{33DEA9A4-AA95-48C0-8CF9-3C4C0D83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9" name="slide-1-footer-number">
            <a:extLst xmlns:a="http://schemas.openxmlformats.org/drawingml/2006/main">
              <a:ext uri="{FF2B5EF4-FFF2-40B4-BE49-F238E27FC236}">
                <a16:creationId xmlns:a16="http://schemas.microsoft.com/office/drawing/2014/main" id="{65E3B7FD-27B9-4FBC-A078-DC11C789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22116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A9BEBD5A-3754-4077-B4B1-273DD832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procedure was run under every DGP</a:t>
            </a:r>
          </a:p>
        </p:txBody>
      </p:sp>
      <p:sp>
        <p:nvSpPr>
          <p:cNvPr id="2" name="slide-2-title-rule">
            <a:extLst xmlns:a="http://schemas.openxmlformats.org/drawingml/2006/main">
              <a:ext uri="{FF2B5EF4-FFF2-40B4-BE49-F238E27FC236}">
                <a16:creationId xmlns:a16="http://schemas.microsoft.com/office/drawing/2014/main" id="{41468502-B836-4172-8F9B-07554E27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model-equation">
            <a:extLst xmlns:a="http://schemas.openxmlformats.org/drawingml/2006/main">
              <a:ext uri="{FF2B5EF4-FFF2-40B4-BE49-F238E27FC236}">
                <a16:creationId xmlns:a16="http://schemas.microsoft.com/office/drawing/2014/main" id="{D4A87FDE-E4EB-4224-9AE4-BADCAD78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049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Yᵢⱼ = Xᵢⱼ′δ + αᵢ + ψⱼ + uᵢ′Λvⱼ + εᵢⱼ,     rank(Λ) = r</a:t>
            </a:r>
          </a:p>
        </p:txBody>
      </p:sp>
      <p:sp>
        <p:nvSpPr>
          <p:cNvPr id="4" name="simulation-restriction">
            <a:extLst xmlns:a="http://schemas.openxmlformats.org/drawingml/2006/main">
              <a:ext uri="{FF2B5EF4-FFF2-40B4-BE49-F238E27FC236}">
                <a16:creationId xmlns:a16="http://schemas.microsoft.com/office/drawing/2014/main" id="{D54F7CC3-F44B-4F59-B3F7-F202AE16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1430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Simulation sets Xᵢⱼ′δ = 0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6b0ede3a24268"/>
          <a:stretch xmlns:a="http://schemas.openxmlformats.org/drawingml/2006/main"/>
        </p:blipFill>
        <p:spPr>
          <a:xfrm xmlns:a="http://schemas.openxmlformats.org/drawingml/2006/main">
            <a:off x="2267067" y="1543050"/>
            <a:ext cx="7657866" cy="4610100"/>
          </a:xfrm>
          <a:prstGeom xmlns:a="http://schemas.openxmlformats.org/drawingml/2006/main" prst="rect">
            <a:avLst/>
          </a:prstGeom>
        </p:spPr>
      </p:pic>
      <p:sp>
        <p:nvSpPr>
          <p:cNvPr id="6" name="slide-2-footer-label">
            <a:extLst xmlns:a="http://schemas.openxmlformats.org/drawingml/2006/main">
              <a:ext uri="{FF2B5EF4-FFF2-40B4-BE49-F238E27FC236}">
                <a16:creationId xmlns:a16="http://schemas.microsoft.com/office/drawing/2014/main" id="{BAF41C9C-1BD0-4EF0-B844-5D1DC3FC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7" name="slide-2-footer-number">
            <a:extLst xmlns:a="http://schemas.openxmlformats.org/drawingml/2006/main">
              <a:ext uri="{FF2B5EF4-FFF2-40B4-BE49-F238E27FC236}">
                <a16:creationId xmlns:a16="http://schemas.microsoft.com/office/drawing/2014/main" id="{7D2A3012-1AB9-411A-825A-3197B189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715327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ED233650-B0AF-4A9F-AB5B-C4973FA8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Correctly specified benchmarks behave as designed</a:t>
            </a:r>
          </a:p>
        </p:txBody>
      </p:sp>
      <p:sp>
        <p:nvSpPr>
          <p:cNvPr id="2" name="slide-3-title-rule">
            <a:extLst xmlns:a="http://schemas.openxmlformats.org/drawingml/2006/main">
              <a:ext uri="{FF2B5EF4-FFF2-40B4-BE49-F238E27FC236}">
                <a16:creationId xmlns:a16="http://schemas.microsoft.com/office/drawing/2014/main" id="{747F0258-BBBE-42B5-89D1-2FD9F57E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e9ce280a44675"/>
          <a:stretch xmlns:a="http://schemas.openxmlformats.org/drawingml/2006/main"/>
        </p:blipFill>
        <p:spPr>
          <a:xfrm xmlns:a="http://schemas.openxmlformats.org/drawingml/2006/main">
            <a:off x="1099584" y="1066800"/>
            <a:ext cx="6611457" cy="5191125"/>
          </a:xfrm>
          <a:prstGeom xmlns:a="http://schemas.openxmlformats.org/drawingml/2006/main" prst="rect">
            <a:avLst/>
          </a:prstGeom>
        </p:spPr>
      </p:pic>
      <p:sp>
        <p:nvSpPr>
          <p:cNvPr id="4" name="kss-head">
            <a:extLst xmlns:a="http://schemas.openxmlformats.org/drawingml/2006/main">
              <a:ext uri="{FF2B5EF4-FFF2-40B4-BE49-F238E27FC236}">
                <a16:creationId xmlns:a16="http://schemas.microsoft.com/office/drawing/2014/main" id="{860CACE8-3E35-4D4F-B190-A4C33D85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5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KSS under AKM</a:t>
            </a:r>
          </a:p>
        </p:txBody>
      </p:sp>
      <p:sp>
        <p:nvSpPr>
          <p:cNvPr id="5" name="kss-number">
            <a:extLst xmlns:a="http://schemas.openxmlformats.org/drawingml/2006/main">
              <a:ext uri="{FF2B5EF4-FFF2-40B4-BE49-F238E27FC236}">
                <a16:creationId xmlns:a16="http://schemas.microsoft.com/office/drawing/2014/main" id="{CF4B086B-B8AE-425E-A992-7F685E65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1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0.0025</a:t>
            </a:r>
          </a:p>
        </p:txBody>
      </p:sp>
      <p:sp>
        <p:nvSpPr>
          <p:cNvPr id="6" name="kss-body">
            <a:extLst xmlns:a="http://schemas.openxmlformats.org/drawingml/2006/main">
              <a:ext uri="{FF2B5EF4-FFF2-40B4-BE49-F238E27FC236}">
                <a16:creationId xmlns:a16="http://schemas.microsoft.com/office/drawing/2014/main" id="{44AA0ACC-675C-4E2E-A473-007DB935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098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RMSE(Q_F); H_F = ρ_H = 0 by construction</a:t>
            </a:r>
          </a:p>
        </p:txBody>
      </p:sp>
      <p:sp>
        <p:nvSpPr>
          <p:cNvPr id="7" name="rail-rule-1">
            <a:extLst xmlns:a="http://schemas.openxmlformats.org/drawingml/2006/main">
              <a:ext uri="{FF2B5EF4-FFF2-40B4-BE49-F238E27FC236}">
                <a16:creationId xmlns:a16="http://schemas.microsoft.com/office/drawing/2014/main" id="{7F6CE3E0-D417-4280-AEAB-A780541A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099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lm-head">
            <a:extLst xmlns:a="http://schemas.openxmlformats.org/drawingml/2006/main">
              <a:ext uri="{FF2B5EF4-FFF2-40B4-BE49-F238E27FC236}">
                <a16:creationId xmlns:a16="http://schemas.microsoft.com/office/drawing/2014/main" id="{6B337A66-291C-4A70-AE36-CBDEA9F0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19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BLM under BLM DGP</a:t>
            </a:r>
          </a:p>
        </p:txBody>
      </p:sp>
      <p:sp>
        <p:nvSpPr>
          <p:cNvPr id="9" name="blm-number">
            <a:extLst xmlns:a="http://schemas.openxmlformats.org/drawingml/2006/main">
              <a:ext uri="{FF2B5EF4-FFF2-40B4-BE49-F238E27FC236}">
                <a16:creationId xmlns:a16="http://schemas.microsoft.com/office/drawing/2014/main" id="{17125124-5BBF-43BE-B79A-99A1C57C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814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0.0949</a:t>
            </a:r>
          </a:p>
        </p:txBody>
      </p:sp>
      <p:sp>
        <p:nvSpPr>
          <p:cNvPr id="10" name="blm-body">
            <a:extLst xmlns:a="http://schemas.openxmlformats.org/drawingml/2006/main">
              <a:ext uri="{FF2B5EF4-FFF2-40B4-BE49-F238E27FC236}">
                <a16:creationId xmlns:a16="http://schemas.microsoft.com/office/drawing/2014/main" id="{18D53551-7C05-4BA1-A457-2F57842A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719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RMSE(Q_F); RMSE(H_F) = 0.0719</a:t>
            </a:r>
          </a:p>
        </p:txBody>
      </p:sp>
      <p:sp>
        <p:nvSpPr>
          <p:cNvPr id="11" name="rail-rule-2">
            <a:extLst xmlns:a="http://schemas.openxmlformats.org/drawingml/2006/main">
              <a:ext uri="{FF2B5EF4-FFF2-40B4-BE49-F238E27FC236}">
                <a16:creationId xmlns:a16="http://schemas.microsoft.com/office/drawing/2014/main" id="{873792FE-6058-4CFF-BBBA-46CA6751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768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s20-head">
            <a:extLst xmlns:a="http://schemas.openxmlformats.org/drawingml/2006/main">
              <a:ext uri="{FF2B5EF4-FFF2-40B4-BE49-F238E27FC236}">
                <a16:creationId xmlns:a16="http://schemas.microsoft.com/office/drawing/2014/main" id="{201D1C18-6089-465C-88AB-F72F64E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0863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BS20 is N/A</a:t>
            </a:r>
          </a:p>
        </p:txBody>
      </p:sp>
      <p:sp>
        <p:nvSpPr>
          <p:cNvPr id="13" name="bs20-body">
            <a:extLst xmlns:a="http://schemas.openxmlformats.org/drawingml/2006/main">
              <a:ext uri="{FF2B5EF4-FFF2-40B4-BE49-F238E27FC236}">
                <a16:creationId xmlns:a16="http://schemas.microsoft.com/office/drawing/2014/main" id="{D3E15319-A228-4AD8-9D1C-5B0C718B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476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BS20 estimates ρ_BS and C_BS—not the four project estimands.</a:t>
            </a:r>
          </a:p>
        </p:txBody>
      </p:sp>
      <p:sp>
        <p:nvSpPr>
          <p:cNvPr id="14" name="slide-3-footer-label">
            <a:extLst xmlns:a="http://schemas.openxmlformats.org/drawingml/2006/main">
              <a:ext uri="{FF2B5EF4-FFF2-40B4-BE49-F238E27FC236}">
                <a16:creationId xmlns:a16="http://schemas.microsoft.com/office/drawing/2014/main" id="{FCE472D1-6EB5-48FA-BC54-18935660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15" name="slide-3-footer-number">
            <a:extLst xmlns:a="http://schemas.openxmlformats.org/drawingml/2006/main">
              <a:ext uri="{FF2B5EF4-FFF2-40B4-BE49-F238E27FC236}">
                <a16:creationId xmlns:a16="http://schemas.microsoft.com/office/drawing/2014/main" id="{B7AD18AF-77E6-4F24-B403-4DAF5005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41919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FACEDE1E-F9B7-486A-B638-2199B041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 rank selection does not guarantee stable completion</a:t>
            </a:r>
          </a:p>
        </p:txBody>
      </p:sp>
      <p:sp>
        <p:nvSpPr>
          <p:cNvPr id="2" name="slide-4-title-rule">
            <a:extLst xmlns:a="http://schemas.openxmlformats.org/drawingml/2006/main">
              <a:ext uri="{FF2B5EF4-FFF2-40B4-BE49-F238E27FC236}">
                <a16:creationId xmlns:a16="http://schemas.microsoft.com/office/drawing/2014/main" id="{7A9DC66E-47A1-4DD2-8EDC-8513D0EF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2a9d7721e4fb8"/>
          <a:stretch xmlns:a="http://schemas.openxmlformats.org/drawingml/2006/main"/>
        </p:blipFill>
        <p:spPr>
          <a:xfrm xmlns:a="http://schemas.openxmlformats.org/drawingml/2006/main">
            <a:off x="304800" y="1160057"/>
            <a:ext cx="8286750" cy="4928411"/>
          </a:xfrm>
          <a:prstGeom xmlns:a="http://schemas.openxmlformats.org/drawingml/2006/main" prst="rect">
            <a:avLst/>
          </a:prstGeom>
        </p:spPr>
      </p:pic>
      <p:sp>
        <p:nvSpPr>
          <p:cNvPr id="4" name="rank-total">
            <a:extLst xmlns:a="http://schemas.openxmlformats.org/drawingml/2006/main">
              <a:ext uri="{FF2B5EF4-FFF2-40B4-BE49-F238E27FC236}">
                <a16:creationId xmlns:a16="http://schemas.microsoft.com/office/drawing/2014/main" id="{9FFBD362-AD23-404D-B99C-690B27A9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2714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500 / 500</a:t>
            </a:r>
          </a:p>
        </p:txBody>
      </p:sp>
      <p:sp>
        <p:nvSpPr>
          <p:cNvPr id="5" name="rank-total-label">
            <a:extLst xmlns:a="http://schemas.openxmlformats.org/drawingml/2006/main">
              <a:ext uri="{FF2B5EF4-FFF2-40B4-BE49-F238E27FC236}">
                <a16:creationId xmlns:a16="http://schemas.microsoft.com/office/drawing/2014/main" id="{1596AC5D-43EC-4C5B-85AE-76D15136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714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populations at the correct BIC rank</a:t>
            </a:r>
          </a:p>
        </p:txBody>
      </p:sp>
      <p:sp>
        <p:nvSpPr>
          <p:cNvPr id="6" name="rank-rule">
            <a:extLst xmlns:a="http://schemas.openxmlformats.org/drawingml/2006/main">
              <a:ext uri="{FF2B5EF4-FFF2-40B4-BE49-F238E27FC236}">
                <a16:creationId xmlns:a16="http://schemas.microsoft.com/office/drawing/2014/main" id="{8FE759E1-9DB3-40C1-8441-C5EF45FB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81300"/>
            <a:ext cx="271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warn-head">
            <a:extLst xmlns:a="http://schemas.openxmlformats.org/drawingml/2006/main">
              <a:ext uri="{FF2B5EF4-FFF2-40B4-BE49-F238E27FC236}">
                <a16:creationId xmlns:a16="http://schemas.microsoft.com/office/drawing/2014/main" id="{A474B6F9-BE2A-47A5-B556-42EC1DB0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Project warnings</a:t>
            </a:r>
          </a:p>
        </p:txBody>
      </p:sp>
      <p:sp>
        <p:nvSpPr>
          <p:cNvPr id="8" name="warn-crippa">
            <a:extLst xmlns:a="http://schemas.openxmlformats.org/drawingml/2006/main">
              <a:ext uri="{FF2B5EF4-FFF2-40B4-BE49-F238E27FC236}">
                <a16:creationId xmlns:a16="http://schemas.microsoft.com/office/drawing/2014/main" id="{5E2506F3-3B1E-4100-8446-21885CF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861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61%   Crippa/Tukey</a:t>
            </a:r>
          </a:p>
        </p:txBody>
      </p:sp>
      <p:sp>
        <p:nvSpPr>
          <p:cNvPr id="9" name="warn-blm">
            <a:extLst xmlns:a="http://schemas.openxmlformats.org/drawingml/2006/main">
              <a:ext uri="{FF2B5EF4-FFF2-40B4-BE49-F238E27FC236}">
                <a16:creationId xmlns:a16="http://schemas.microsoft.com/office/drawing/2014/main" id="{2026CFC7-5033-4323-84AE-ABCA776E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052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15%   BLM types</a:t>
            </a:r>
          </a:p>
        </p:txBody>
      </p:sp>
      <p:sp>
        <p:nvSpPr>
          <p:cNvPr id="10" name="warn-lr">
            <a:extLst xmlns:a="http://schemas.openxmlformats.org/drawingml/2006/main">
              <a:ext uri="{FF2B5EF4-FFF2-40B4-BE49-F238E27FC236}">
                <a16:creationId xmlns:a16="http://schemas.microsoft.com/office/drawing/2014/main" id="{E5EFC7F6-93B1-4672-8402-A07133DC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243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7%     Low-rank factors</a:t>
            </a:r>
          </a:p>
        </p:txBody>
      </p:sp>
      <p:sp>
        <p:nvSpPr>
          <p:cNvPr id="11" name="rank-takeaway">
            <a:extLst xmlns:a="http://schemas.openxmlformats.org/drawingml/2006/main">
              <a:ext uri="{FF2B5EF4-FFF2-40B4-BE49-F238E27FC236}">
                <a16:creationId xmlns:a16="http://schemas.microsoft.com/office/drawing/2014/main" id="{EBCF3057-ECBE-4369-8E15-D22D057F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86350"/>
            <a:ext cx="2714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Model order and numerical conditioning are separate problems.</a:t>
            </a:r>
          </a:p>
        </p:txBody>
      </p:sp>
      <p:sp>
        <p:nvSpPr>
          <p:cNvPr id="12" name="slide-4-footer-label">
            <a:extLst xmlns:a="http://schemas.openxmlformats.org/drawingml/2006/main">
              <a:ext uri="{FF2B5EF4-FFF2-40B4-BE49-F238E27FC236}">
                <a16:creationId xmlns:a16="http://schemas.microsoft.com/office/drawing/2014/main" id="{57F7EE6D-2CA4-4464-91AF-F69AD3AD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13" name="slide-4-footer-number">
            <a:extLst xmlns:a="http://schemas.openxmlformats.org/drawingml/2006/main">
              <a:ext uri="{FF2B5EF4-FFF2-40B4-BE49-F238E27FC236}">
                <a16:creationId xmlns:a16="http://schemas.microsoft.com/office/drawing/2014/main" id="{E44519DC-63E9-4745-AB0C-860BF839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244622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A77B34A0-4634-4F2F-A848-54A2AFF7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Rare warning cases dominate project plug-in RMSE</a:t>
            </a:r>
          </a:p>
        </p:txBody>
      </p:sp>
      <p:sp>
        <p:nvSpPr>
          <p:cNvPr id="2" name="slide-5-title-rule">
            <a:extLst xmlns:a="http://schemas.openxmlformats.org/drawingml/2006/main">
              <a:ext uri="{FF2B5EF4-FFF2-40B4-BE49-F238E27FC236}">
                <a16:creationId xmlns:a16="http://schemas.microsoft.com/office/drawing/2014/main" id="{3F572AD1-21AE-43CD-B15C-B9705D1A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ail-legend-returned">
            <a:extLst xmlns:a="http://schemas.openxmlformats.org/drawingml/2006/main">
              <a:ext uri="{FF2B5EF4-FFF2-40B4-BE49-F238E27FC236}">
                <a16:creationId xmlns:a16="http://schemas.microsoft.com/office/drawing/2014/main" id="{F2F19644-5750-43C4-8CFE-279E19C4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668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●  all returned</a:t>
            </a:r>
          </a:p>
        </p:txBody>
      </p:sp>
      <p:sp>
        <p:nvSpPr>
          <p:cNvPr id="4" name="tail-legend-pass">
            <a:extLst xmlns:a="http://schemas.openxmlformats.org/drawingml/2006/main">
              <a:ext uri="{FF2B5EF4-FFF2-40B4-BE49-F238E27FC236}">
                <a16:creationId xmlns:a16="http://schemas.microsoft.com/office/drawing/2014/main" id="{C765AF70-8AD9-4896-908F-A5C6F914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066800"/>
            <a:ext cx="2238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■  diagnostic pass only</a:t>
            </a:r>
          </a:p>
        </p:txBody>
      </p:sp>
      <p:sp>
        <p:nvSpPr>
          <p:cNvPr id="5" name="tail-q-label">
            <a:extLst xmlns:a="http://schemas.openxmlformats.org/drawingml/2006/main">
              <a:ext uri="{FF2B5EF4-FFF2-40B4-BE49-F238E27FC236}">
                <a16:creationId xmlns:a16="http://schemas.microsoft.com/office/drawing/2014/main" id="{31A39780-6182-4642-A620-E12C95E9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3335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Q_F</a:t>
            </a:r>
          </a:p>
        </p:txBody>
      </p:sp>
      <p:sp>
        <p:nvSpPr>
          <p:cNvPr id="6" name="tail-c-label">
            <a:extLst xmlns:a="http://schemas.openxmlformats.org/drawingml/2006/main">
              <a:ext uri="{FF2B5EF4-FFF2-40B4-BE49-F238E27FC236}">
                <a16:creationId xmlns:a16="http://schemas.microsoft.com/office/drawing/2014/main" id="{AE1CA9AE-E874-4C3C-B2AD-B1586837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3335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C^w_assign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5bd403d1340cb"/>
          <a:stretch xmlns:a="http://schemas.openxmlformats.org/drawingml/2006/main"/>
        </p:blipFill>
        <p:spPr>
          <a:xfrm xmlns:a="http://schemas.openxmlformats.org/drawingml/2006/main">
            <a:off x="457200" y="1733770"/>
            <a:ext cx="5238750" cy="286658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54dfdb12b241d8"/>
          <a:stretch xmlns:a="http://schemas.openxmlformats.org/drawingml/2006/main"/>
        </p:blipFill>
        <p:spPr>
          <a:xfrm xmlns:a="http://schemas.openxmlformats.org/drawingml/2006/main">
            <a:off x="6539190" y="1666875"/>
            <a:ext cx="4580971" cy="3000375"/>
          </a:xfrm>
          <a:prstGeom xmlns:a="http://schemas.openxmlformats.org/drawingml/2006/main" prst="rect">
            <a:avLst/>
          </a:prstGeom>
        </p:spPr>
      </p:pic>
      <p:sp>
        <p:nvSpPr>
          <p:cNvPr id="9" name="tail-separator">
            <a:extLst xmlns:a="http://schemas.openxmlformats.org/drawingml/2006/main">
              <a:ext uri="{FF2B5EF4-FFF2-40B4-BE49-F238E27FC236}">
                <a16:creationId xmlns:a16="http://schemas.microsoft.com/office/drawing/2014/main" id="{E2F3E79D-6162-4897-9807-3C825F76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577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ail-share">
            <a:extLst xmlns:a="http://schemas.openxmlformats.org/drawingml/2006/main">
              <a:ext uri="{FF2B5EF4-FFF2-40B4-BE49-F238E27FC236}">
                <a16:creationId xmlns:a16="http://schemas.microsoft.com/office/drawing/2014/main" id="{CA61AC7D-AC0B-45D4-A48C-DA2AC583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91–100%</a:t>
            </a:r>
          </a:p>
        </p:txBody>
      </p:sp>
      <p:sp>
        <p:nvSpPr>
          <p:cNvPr id="11" name="tail-share-label">
            <a:extLst xmlns:a="http://schemas.openxmlformats.org/drawingml/2006/main">
              <a:ext uri="{FF2B5EF4-FFF2-40B4-BE49-F238E27FC236}">
                <a16:creationId xmlns:a16="http://schemas.microsoft.com/office/drawing/2014/main" id="{BC03D36D-D3AA-4752-B66F-07831B04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3880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of Q_F squared error comes from only five replications</a:t>
            </a:r>
          </a:p>
        </p:txBody>
      </p:sp>
      <p:sp>
        <p:nvSpPr>
          <p:cNvPr id="12" name="tail-pass">
            <a:extLst xmlns:a="http://schemas.openxmlformats.org/drawingml/2006/main">
              <a:ext uri="{FF2B5EF4-FFF2-40B4-BE49-F238E27FC236}">
                <a16:creationId xmlns:a16="http://schemas.microsoft.com/office/drawing/2014/main" id="{D46FF2FA-CA5A-4F60-8286-B2E82BD9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673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≈ 0.01–0.02</a:t>
            </a:r>
          </a:p>
        </p:txBody>
      </p:sp>
      <p:sp>
        <p:nvSpPr>
          <p:cNvPr id="13" name="tail-pass-label">
            <a:extLst xmlns:a="http://schemas.openxmlformats.org/drawingml/2006/main">
              <a:ext uri="{FF2B5EF4-FFF2-40B4-BE49-F238E27FC236}">
                <a16:creationId xmlns:a16="http://schemas.microsoft.com/office/drawing/2014/main" id="{FDFBB95A-69F1-4229-A530-BE17EA78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3880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pass-only RMSE(Q_F) across the nonadditive DGPs</a:t>
            </a:r>
          </a:p>
        </p:txBody>
      </p:sp>
      <p:sp>
        <p:nvSpPr>
          <p:cNvPr id="14" name="tail-meaning">
            <a:extLst xmlns:a="http://schemas.openxmlformats.org/drawingml/2006/main">
              <a:ext uri="{FF2B5EF4-FFF2-40B4-BE49-F238E27FC236}">
                <a16:creationId xmlns:a16="http://schemas.microsoft.com/office/drawing/2014/main" id="{F09BDC6D-8EDB-456C-95CE-20986E78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Warnings are economically meaningful—not cosmetic.</a:t>
            </a:r>
          </a:p>
        </p:txBody>
      </p:sp>
      <p:sp>
        <p:nvSpPr>
          <p:cNvPr id="15" name="slide-5-footer-label">
            <a:extLst xmlns:a="http://schemas.openxmlformats.org/drawingml/2006/main">
              <a:ext uri="{FF2B5EF4-FFF2-40B4-BE49-F238E27FC236}">
                <a16:creationId xmlns:a16="http://schemas.microsoft.com/office/drawing/2014/main" id="{E7C080FA-0BBC-49CB-BA91-32A3891C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16" name="slide-5-footer-number">
            <a:extLst xmlns:a="http://schemas.openxmlformats.org/drawingml/2006/main">
              <a:ext uri="{FF2B5EF4-FFF2-40B4-BE49-F238E27FC236}">
                <a16:creationId xmlns:a16="http://schemas.microsoft.com/office/drawing/2014/main" id="{62416F7E-C0E3-4E40-A85E-BE09A33E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889037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414A8FE1-BD1D-41AB-A047-BDE2D81A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instability is conditioning—not centering</a:t>
            </a:r>
          </a:p>
        </p:txBody>
      </p:sp>
      <p:sp>
        <p:nvSpPr>
          <p:cNvPr id="2" name="slide-6-title-rule">
            <a:extLst xmlns:a="http://schemas.openxmlformats.org/drawingml/2006/main">
              <a:ext uri="{FF2B5EF4-FFF2-40B4-BE49-F238E27FC236}">
                <a16:creationId xmlns:a16="http://schemas.microsoft.com/office/drawing/2014/main" id="{F751C68A-024A-4BDA-A7EE-9C51B239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entering-band">
            <a:extLst xmlns:a="http://schemas.openxmlformats.org/drawingml/2006/main">
              <a:ext uri="{FF2B5EF4-FFF2-40B4-BE49-F238E27FC236}">
                <a16:creationId xmlns:a16="http://schemas.microsoft.com/office/drawing/2014/main" id="{C92D6DBB-261E-4142-91D9-C3AA5843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entering-check">
            <a:extLst xmlns:a="http://schemas.openxmlformats.org/drawingml/2006/main">
              <a:ext uri="{FF2B5EF4-FFF2-40B4-BE49-F238E27FC236}">
                <a16:creationId xmlns:a16="http://schemas.microsoft.com/office/drawing/2014/main" id="{81436418-2052-43BE-8C6C-4A79961E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5" name="centering-text">
            <a:extLst xmlns:a="http://schemas.openxmlformats.org/drawingml/2006/main">
              <a:ext uri="{FF2B5EF4-FFF2-40B4-BE49-F238E27FC236}">
                <a16:creationId xmlns:a16="http://schemas.microsoft.com/office/drawing/2014/main" id="{1ABDC9E1-DCC2-4B8B-98DB-9425D54E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304925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ALS factors are already recentered after every iteration.</a:t>
            </a:r>
          </a:p>
        </p:txBody>
      </p:sp>
      <p:sp>
        <p:nvSpPr>
          <p:cNvPr id="6" name="cond-head">
            <a:extLst xmlns:a="http://schemas.openxmlformats.org/drawingml/2006/main">
              <a:ext uri="{FF2B5EF4-FFF2-40B4-BE49-F238E27FC236}">
                <a16:creationId xmlns:a16="http://schemas.microsoft.com/office/drawing/2014/main" id="{A6BB4D1E-6906-43FC-8AD1-DB550851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542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95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Low-rank DGP: median maximum local condition number</a:t>
            </a:r>
          </a:p>
        </p:txBody>
      </p:sp>
      <p:sp>
        <p:nvSpPr>
          <p:cNvPr id="7" name="cond-pass">
            <a:extLst xmlns:a="http://schemas.openxmlformats.org/drawingml/2006/main">
              <a:ext uri="{FF2B5EF4-FFF2-40B4-BE49-F238E27FC236}">
                <a16:creationId xmlns:a16="http://schemas.microsoft.com/office/drawing/2014/main" id="{FAEF4D9A-17F5-448B-A594-2A8F997D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55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555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8" name="cond-arrow">
            <a:extLst xmlns:a="http://schemas.openxmlformats.org/drawingml/2006/main">
              <a:ext uri="{FF2B5EF4-FFF2-40B4-BE49-F238E27FC236}">
                <a16:creationId xmlns:a16="http://schemas.microsoft.com/office/drawing/2014/main" id="{86A01D9E-E6D8-44D0-8C2E-2DA8B9FA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527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4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cond-warning">
            <a:extLst xmlns:a="http://schemas.openxmlformats.org/drawingml/2006/main">
              <a:ext uri="{FF2B5EF4-FFF2-40B4-BE49-F238E27FC236}">
                <a16:creationId xmlns:a16="http://schemas.microsoft.com/office/drawing/2014/main" id="{8591C9BB-F248-4E84-BB2C-A2CA0520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05125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4950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84,006</a:t>
            </a:r>
          </a:p>
        </p:txBody>
      </p:sp>
      <p:sp>
        <p:nvSpPr>
          <p:cNvPr id="10" name="cond-labels">
            <a:extLst xmlns:a="http://schemas.openxmlformats.org/drawingml/2006/main">
              <a:ext uri="{FF2B5EF4-FFF2-40B4-BE49-F238E27FC236}">
                <a16:creationId xmlns:a16="http://schemas.microsoft.com/office/drawing/2014/main" id="{3CB6003D-291E-4F96-B022-411297B4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09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diagnostic pass                                      warning</a:t>
            </a:r>
          </a:p>
        </p:txBody>
      </p:sp>
      <p:sp>
        <p:nvSpPr>
          <p:cNvPr id="11" name="diag-vertical">
            <a:extLst xmlns:a="http://schemas.openxmlformats.org/drawingml/2006/main">
              <a:ext uri="{FF2B5EF4-FFF2-40B4-BE49-F238E27FC236}">
                <a16:creationId xmlns:a16="http://schemas.microsoft.com/office/drawing/2014/main" id="{3D88D9A2-49EA-4CB8-BFBC-CD2AB8A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52650"/>
            <a:ext cx="95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orm-head">
            <a:extLst xmlns:a="http://schemas.openxmlformats.org/drawingml/2006/main">
              <a:ext uri="{FF2B5EF4-FFF2-40B4-BE49-F238E27FC236}">
                <a16:creationId xmlns:a16="http://schemas.microsoft.com/office/drawing/2014/main" id="{AEE46F98-9F3E-458B-9A70-D2D65005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35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Low-rank DGP: median factor norm</a:t>
            </a:r>
          </a:p>
        </p:txBody>
      </p:sp>
      <p:sp>
        <p:nvSpPr>
          <p:cNvPr id="13" name="norm-pass">
            <a:extLst xmlns:a="http://schemas.openxmlformats.org/drawingml/2006/main">
              <a:ext uri="{FF2B5EF4-FFF2-40B4-BE49-F238E27FC236}">
                <a16:creationId xmlns:a16="http://schemas.microsoft.com/office/drawing/2014/main" id="{BF4276AC-EA96-4D1D-A6E2-BAE8692F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05125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5100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4.32</a:t>
            </a:r>
          </a:p>
        </p:txBody>
      </p:sp>
      <p:sp>
        <p:nvSpPr>
          <p:cNvPr id="14" name="norm-arrow">
            <a:extLst xmlns:a="http://schemas.openxmlformats.org/drawingml/2006/main">
              <a:ext uri="{FF2B5EF4-FFF2-40B4-BE49-F238E27FC236}">
                <a16:creationId xmlns:a16="http://schemas.microsoft.com/office/drawing/2014/main" id="{0D598C63-118D-4FF5-8913-BD6A964A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4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norm-warning">
            <a:extLst xmlns:a="http://schemas.openxmlformats.org/drawingml/2006/main">
              <a:ext uri="{FF2B5EF4-FFF2-40B4-BE49-F238E27FC236}">
                <a16:creationId xmlns:a16="http://schemas.microsoft.com/office/drawing/2014/main" id="{27C9F563-8389-4C2E-AEB9-09E26B73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05125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4500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184.9</a:t>
            </a:r>
          </a:p>
        </p:txBody>
      </p:sp>
      <p:sp>
        <p:nvSpPr>
          <p:cNvPr id="16" name="norm-labels">
            <a:extLst xmlns:a="http://schemas.openxmlformats.org/drawingml/2006/main">
              <a:ext uri="{FF2B5EF4-FFF2-40B4-BE49-F238E27FC236}">
                <a16:creationId xmlns:a16="http://schemas.microsoft.com/office/drawing/2014/main" id="{C95D25C7-4335-4708-A503-2384E6A6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90950"/>
            <a:ext cx="4048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pass                                  warning</a:t>
            </a:r>
          </a:p>
        </p:txBody>
      </p:sp>
      <p:sp>
        <p:nvSpPr>
          <p:cNvPr id="17" name="diag-bottom-rule">
            <a:extLst xmlns:a="http://schemas.openxmlformats.org/drawingml/2006/main">
              <a:ext uri="{FF2B5EF4-FFF2-40B4-BE49-F238E27FC236}">
                <a16:creationId xmlns:a16="http://schemas.microsoft.com/office/drawing/2014/main" id="{ADB574D5-1AF3-45D5-BD0C-468AB901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iag-mechanism">
            <a:extLst xmlns:a="http://schemas.openxmlformats.org/drawingml/2006/main">
              <a:ext uri="{FF2B5EF4-FFF2-40B4-BE49-F238E27FC236}">
                <a16:creationId xmlns:a16="http://schemas.microsoft.com/office/drawing/2014/main" id="{35FAA1C1-A135-4A2D-94F7-C022DBC2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Weak or nearly collinear local factor regressions let the unregularized completion explode in a few samples.</a:t>
            </a:r>
          </a:p>
        </p:txBody>
      </p:sp>
      <p:sp>
        <p:nvSpPr>
          <p:cNvPr id="19" name="diag-note">
            <a:extLst xmlns:a="http://schemas.openxmlformats.org/drawingml/2006/main">
              <a:ext uri="{FF2B5EF4-FFF2-40B4-BE49-F238E27FC236}">
                <a16:creationId xmlns:a16="http://schemas.microsoft.com/office/drawing/2014/main" id="{05D02C1F-2628-4B4A-8958-71FE3511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905500"/>
            <a:ext cx="942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BLM types show the same direction: median condition number 157 (pass) versus 6,340 (warning).</a:t>
            </a:r>
          </a:p>
        </p:txBody>
      </p:sp>
      <p:sp>
        <p:nvSpPr>
          <p:cNvPr id="20" name="slide-6-footer-label">
            <a:extLst xmlns:a="http://schemas.openxmlformats.org/drawingml/2006/main">
              <a:ext uri="{FF2B5EF4-FFF2-40B4-BE49-F238E27FC236}">
                <a16:creationId xmlns:a16="http://schemas.microsoft.com/office/drawing/2014/main" id="{393E1A65-1E92-4767-90DB-714BFC5B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21" name="slide-6-footer-number">
            <a:extLst xmlns:a="http://schemas.openxmlformats.org/drawingml/2006/main">
              <a:ext uri="{FF2B5EF4-FFF2-40B4-BE49-F238E27FC236}">
                <a16:creationId xmlns:a16="http://schemas.microsoft.com/office/drawing/2014/main" id="{1508DB5F-3728-42AE-ABD1-F9393499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599096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B12F309F-D46B-4072-A01B-EF60D051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procedures answer different questions</a:t>
            </a:r>
          </a:p>
        </p:txBody>
      </p:sp>
      <p:sp>
        <p:nvSpPr>
          <p:cNvPr id="2" name="slide-7-title-rule">
            <a:extLst xmlns:a="http://schemas.openxmlformats.org/drawingml/2006/main">
              <a:ext uri="{FF2B5EF4-FFF2-40B4-BE49-F238E27FC236}">
                <a16:creationId xmlns:a16="http://schemas.microsoft.com/office/drawing/2014/main" id="{2335DFB3-7478-4B7F-BC05-3501547C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47b199e5c4908"/>
          <a:stretch xmlns:a="http://schemas.openxmlformats.org/drawingml/2006/main"/>
        </p:blipFill>
        <p:spPr>
          <a:xfrm xmlns:a="http://schemas.openxmlformats.org/drawingml/2006/main">
            <a:off x="285750" y="1663526"/>
            <a:ext cx="8191500" cy="3978622"/>
          </a:xfrm>
          <a:prstGeom xmlns:a="http://schemas.openxmlformats.org/drawingml/2006/main" prst="rect">
            <a:avLst/>
          </a:prstGeom>
        </p:spPr>
      </p:pic>
      <p:sp>
        <p:nvSpPr>
          <p:cNvPr id="4" name="native-kss">
            <a:extLst xmlns:a="http://schemas.openxmlformats.org/drawingml/2006/main">
              <a:ext uri="{FF2B5EF4-FFF2-40B4-BE49-F238E27FC236}">
                <a16:creationId xmlns:a16="http://schemas.microsoft.com/office/drawing/2014/main" id="{FF624E9F-7C0A-4FF6-8BF7-0F1ECB08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3525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KSS native</a:t>
            </a:r>
          </a:p>
        </p:txBody>
      </p:sp>
      <p:sp>
        <p:nvSpPr>
          <p:cNvPr id="5" name="native-kss-objects">
            <a:extLst xmlns:a="http://schemas.openxmlformats.org/drawingml/2006/main">
              <a:ext uri="{FF2B5EF4-FFF2-40B4-BE49-F238E27FC236}">
                <a16:creationId xmlns:a16="http://schemas.microsoft.com/office/drawing/2014/main" id="{D67DAD34-1C68-48AA-B6F1-2901EE5D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5260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V_ψ^AKM   ·   C_ψα^AKM</a:t>
            </a:r>
          </a:p>
        </p:txBody>
      </p:sp>
      <p:sp>
        <p:nvSpPr>
          <p:cNvPr id="6" name="native-rule-1">
            <a:extLst xmlns:a="http://schemas.openxmlformats.org/drawingml/2006/main">
              <a:ext uri="{FF2B5EF4-FFF2-40B4-BE49-F238E27FC236}">
                <a16:creationId xmlns:a16="http://schemas.microsoft.com/office/drawing/2014/main" id="{FC232B1A-6B32-4252-8D9C-23A20003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324100"/>
            <a:ext cx="271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native-bs">
            <a:extLst xmlns:a="http://schemas.openxmlformats.org/drawingml/2006/main">
              <a:ext uri="{FF2B5EF4-FFF2-40B4-BE49-F238E27FC236}">
                <a16:creationId xmlns:a16="http://schemas.microsoft.com/office/drawing/2014/main" id="{EE9D8BE4-DF3D-45E3-877A-B2A162AE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5336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BS20 native</a:t>
            </a:r>
          </a:p>
        </p:txBody>
      </p:sp>
      <p:sp>
        <p:nvSpPr>
          <p:cNvPr id="8" name="native-bs-objects">
            <a:extLst xmlns:a="http://schemas.openxmlformats.org/drawingml/2006/main">
              <a:ext uri="{FF2B5EF4-FFF2-40B4-BE49-F238E27FC236}">
                <a16:creationId xmlns:a16="http://schemas.microsoft.com/office/drawing/2014/main" id="{27927AD0-7AC7-4BBB-B6E2-AB2B3165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93370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CC79A7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CC79A7"/>
                </a:solidFill>
                <a:latin typeface="Arial"/>
                <a:ea typeface="Arial"/>
                <a:cs typeface="Arial"/>
              </a:rPr>
              <a:t>ρ_BS   ·   C_BS</a:t>
            </a:r>
          </a:p>
        </p:txBody>
      </p:sp>
      <p:sp>
        <p:nvSpPr>
          <p:cNvPr id="9" name="native-rule-2">
            <a:extLst xmlns:a="http://schemas.openxmlformats.org/drawingml/2006/main">
              <a:ext uri="{FF2B5EF4-FFF2-40B4-BE49-F238E27FC236}">
                <a16:creationId xmlns:a16="http://schemas.microsoft.com/office/drawing/2014/main" id="{D37E591C-6595-4930-B1E4-F7E95968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505200"/>
            <a:ext cx="2714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ative-project">
            <a:extLst xmlns:a="http://schemas.openxmlformats.org/drawingml/2006/main">
              <a:ext uri="{FF2B5EF4-FFF2-40B4-BE49-F238E27FC236}">
                <a16:creationId xmlns:a16="http://schemas.microsoft.com/office/drawing/2014/main" id="{B068FF73-E846-4473-BD69-BF0F5FBF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147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Project estimands</a:t>
            </a:r>
          </a:p>
        </p:txBody>
      </p:sp>
      <p:sp>
        <p:nvSpPr>
          <p:cNvPr id="11" name="native-project-objects">
            <a:extLst xmlns:a="http://schemas.openxmlformats.org/drawingml/2006/main">
              <a:ext uri="{FF2B5EF4-FFF2-40B4-BE49-F238E27FC236}">
                <a16:creationId xmlns:a16="http://schemas.microsoft.com/office/drawing/2014/main" id="{D67A199A-B42C-4782-97AC-0A6E6ACD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114800"/>
            <a:ext cx="2714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Q_F   ·   H_F</a:t>
            </a:r>
          </a:p>
          <a:p xmlns:a="http://schemas.openxmlformats.org/drawingml/2006/main">
            <a:pPr algn="l">
              <a:defRPr sz="1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ρ_H   ·   C^w_assign</a:t>
            </a:r>
          </a:p>
        </p:txBody>
      </p:sp>
      <p:sp>
        <p:nvSpPr>
          <p:cNvPr id="12" name="native-takeaway">
            <a:extLst xmlns:a="http://schemas.openxmlformats.org/drawingml/2006/main">
              <a:ext uri="{FF2B5EF4-FFF2-40B4-BE49-F238E27FC236}">
                <a16:creationId xmlns:a16="http://schemas.microsoft.com/office/drawing/2014/main" id="{804A38D9-A930-49FD-9D5C-F363C97F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219700"/>
            <a:ext cx="2714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54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procedure can estimate its own object accurately and still differ from the project estimand.</a:t>
            </a:r>
          </a:p>
        </p:txBody>
      </p:sp>
      <p:sp>
        <p:nvSpPr>
          <p:cNvPr id="13" name="slide-7-footer-label">
            <a:extLst xmlns:a="http://schemas.openxmlformats.org/drawingml/2006/main">
              <a:ext uri="{FF2B5EF4-FFF2-40B4-BE49-F238E27FC236}">
                <a16:creationId xmlns:a16="http://schemas.microsoft.com/office/drawing/2014/main" id="{7448DE6B-0A8B-4309-A86E-48FEBC4A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14" name="slide-7-footer-number">
            <a:extLst xmlns:a="http://schemas.openxmlformats.org/drawingml/2006/main">
              <a:ext uri="{FF2B5EF4-FFF2-40B4-BE49-F238E27FC236}">
                <a16:creationId xmlns:a16="http://schemas.microsoft.com/office/drawing/2014/main" id="{D71F13A7-F6DF-4650-AE16-C17D5ED5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852586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FA0A817D-D0E9-4DE7-9FDD-31919909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the simulation establishes</a:t>
            </a:r>
          </a:p>
        </p:txBody>
      </p:sp>
      <p:sp>
        <p:nvSpPr>
          <p:cNvPr id="2" name="slide-8-title-rule">
            <a:extLst xmlns:a="http://schemas.openxmlformats.org/drawingml/2006/main">
              <a:ext uri="{FF2B5EF4-FFF2-40B4-BE49-F238E27FC236}">
                <a16:creationId xmlns:a16="http://schemas.microsoft.com/office/drawing/2014/main" id="{A50A2409-F6B7-4796-B8F5-095F0535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lose-validated-label">
            <a:extLst xmlns:a="http://schemas.openxmlformats.org/drawingml/2006/main">
              <a:ext uri="{FF2B5EF4-FFF2-40B4-BE49-F238E27FC236}">
                <a16:creationId xmlns:a16="http://schemas.microsoft.com/office/drawing/2014/main" id="{8C062E34-ED29-4415-A72D-A74621C5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09E7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09E73"/>
                </a:solidFill>
                <a:latin typeface="Arial"/>
                <a:ea typeface="Arial"/>
                <a:cs typeface="Arial"/>
              </a:rPr>
              <a:t>VALIDATED</a:t>
            </a:r>
          </a:p>
        </p:txBody>
      </p:sp>
      <p:sp>
        <p:nvSpPr>
          <p:cNvPr id="4" name="close-validated">
            <a:extLst xmlns:a="http://schemas.openxmlformats.org/drawingml/2006/main">
              <a:ext uri="{FF2B5EF4-FFF2-40B4-BE49-F238E27FC236}">
                <a16:creationId xmlns:a16="http://schemas.microsoft.com/office/drawing/2014/main" id="{2444922A-8274-4569-98E2-0F7FBC79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Benchmarks perform well in the DGPs they are built for.</a:t>
            </a:r>
          </a:p>
        </p:txBody>
      </p:sp>
      <p:sp>
        <p:nvSpPr>
          <p:cNvPr id="5" name="close-rule-1">
            <a:extLst xmlns:a="http://schemas.openxmlformats.org/drawingml/2006/main">
              <a:ext uri="{FF2B5EF4-FFF2-40B4-BE49-F238E27FC236}">
                <a16:creationId xmlns:a16="http://schemas.microsoft.com/office/drawing/2014/main" id="{D3D37A53-191F-4023-9BB1-3C77E185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86050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solved-label">
            <a:extLst xmlns:a="http://schemas.openxmlformats.org/drawingml/2006/main">
              <a:ext uri="{FF2B5EF4-FFF2-40B4-BE49-F238E27FC236}">
                <a16:creationId xmlns:a16="http://schemas.microsoft.com/office/drawing/2014/main" id="{42C2B1C9-7F2E-43EC-AE14-BBB17182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52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3D8DFF"/>
                </a:solidFill>
                <a:latin typeface="Arial"/>
                <a:ea typeface="Arial"/>
                <a:cs typeface="Arial"/>
              </a:rPr>
              <a:t>SOLVED IN THIS DESIGN</a:t>
            </a:r>
          </a:p>
        </p:txBody>
      </p:sp>
      <p:sp>
        <p:nvSpPr>
          <p:cNvPr id="7" name="close-solved">
            <a:extLst xmlns:a="http://schemas.openxmlformats.org/drawingml/2006/main">
              <a:ext uri="{FF2B5EF4-FFF2-40B4-BE49-F238E27FC236}">
                <a16:creationId xmlns:a16="http://schemas.microsoft.com/office/drawing/2014/main" id="{B3DE5B58-C4B8-4912-85EA-10023DDC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62325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BIC chooses the correct rank in every simulated population.</a:t>
            </a:r>
          </a:p>
        </p:txBody>
      </p:sp>
      <p:sp>
        <p:nvSpPr>
          <p:cNvPr id="8" name="close-rule-2">
            <a:extLst xmlns:a="http://schemas.openxmlformats.org/drawingml/2006/main">
              <a:ext uri="{FF2B5EF4-FFF2-40B4-BE49-F238E27FC236}">
                <a16:creationId xmlns:a16="http://schemas.microsoft.com/office/drawing/2014/main" id="{A36E8EC6-CCA6-4FBE-849C-ED9FE4B6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lose-unresolved-label">
            <a:extLst xmlns:a="http://schemas.openxmlformats.org/drawingml/2006/main">
              <a:ext uri="{FF2B5EF4-FFF2-40B4-BE49-F238E27FC236}">
                <a16:creationId xmlns:a16="http://schemas.microsoft.com/office/drawing/2014/main" id="{18CEB064-B9B9-4669-A597-CC2CFD1A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577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D55E00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D55E00"/>
                </a:solidFill>
                <a:latin typeface="Arial"/>
                <a:ea typeface="Arial"/>
                <a:cs typeface="Arial"/>
              </a:rPr>
              <a:t>UNRESOLVED</a:t>
            </a:r>
          </a:p>
        </p:txBody>
      </p:sp>
      <p:sp>
        <p:nvSpPr>
          <p:cNvPr id="10" name="close-unresolved">
            <a:extLst xmlns:a="http://schemas.openxmlformats.org/drawingml/2006/main">
              <a:ext uri="{FF2B5EF4-FFF2-40B4-BE49-F238E27FC236}">
                <a16:creationId xmlns:a16="http://schemas.microsoft.com/office/drawing/2014/main" id="{65D2CC06-05AD-4E48-8A40-7018AE89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67275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Unregularized completion has rare but catastrophic tails.</a:t>
            </a:r>
          </a:p>
        </p:txBody>
      </p:sp>
      <p:sp>
        <p:nvSpPr>
          <p:cNvPr id="11" name="close-action-band">
            <a:extLst xmlns:a="http://schemas.openxmlformats.org/drawingml/2006/main">
              <a:ext uri="{FF2B5EF4-FFF2-40B4-BE49-F238E27FC236}">
                <a16:creationId xmlns:a16="http://schemas.microsoft.com/office/drawing/2014/main" id="{0D35F69A-BABE-4C9C-82ED-C6A11DA1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15000"/>
            <a:ext cx="11001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17BCBDF6-F53B-489C-98E1-BA3990E7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48350"/>
            <a:ext cx="1062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37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Next: regularize local factor regressions and make conditioning part of the estimator before evaluating the full LOO correction.</a:t>
            </a:r>
          </a:p>
        </p:txBody>
      </p:sp>
      <p:sp>
        <p:nvSpPr>
          <p:cNvPr id="13" name="slide-8-footer-label">
            <a:extLst xmlns:a="http://schemas.openxmlformats.org/drawingml/2006/main">
              <a:ext uri="{FF2B5EF4-FFF2-40B4-BE49-F238E27FC236}">
                <a16:creationId xmlns:a16="http://schemas.microsoft.com/office/drawing/2014/main" id="{BC78BEAB-E2A6-4C4A-9268-1500F6D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LOO simulation · visual summary</a:t>
            </a:r>
          </a:p>
        </p:txBody>
      </p:sp>
      <p:sp>
        <p:nvSpPr>
          <p:cNvPr id="14" name="slide-8-footer-number">
            <a:extLst xmlns:a="http://schemas.openxmlformats.org/drawingml/2006/main">
              <a:ext uri="{FF2B5EF4-FFF2-40B4-BE49-F238E27FC236}">
                <a16:creationId xmlns:a16="http://schemas.microsoft.com/office/drawing/2014/main" id="{93B2F8AA-5F01-4B25-BF90-7D587B25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59616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9616D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996414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2026-08-14T19:38:03.9890000Z</dcterms:created>
  <dcterms:modified xsi:type="dcterms:W3CDTF">2026-08-14T19:38:03.9900000Z</dcterms:modified>
</coreProperties>
</file>