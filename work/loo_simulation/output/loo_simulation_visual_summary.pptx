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cf683582564c98" /><Relationship Type="http://schemas.openxmlformats.org/officeDocument/2006/relationships/extended-properties" Target="/docProps/app.xml" Id="Rea3e0ed628e44fe8" /><Relationship Type="http://schemas.openxmlformats.org/officeDocument/2006/relationships/officeDocument" Target="/ppt/presentation.xml" Id="R7887e6d7c8c74f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2d8546ca6149c0"/>
  </p:sldMasterIdLst>
  <p:notesMasterIdLst>
    <p:notesMasterId xmlns:r="http://schemas.openxmlformats.org/officeDocument/2006/relationships" r:id="Rf32741dc02474714"/>
  </p:notesMasterIdLst>
  <p:sldIdLst>
    <p:sldId xmlns:r="http://schemas.openxmlformats.org/officeDocument/2006/relationships" id="256" r:id="R1a3b4cf75c754299"/>
    <p:sldId xmlns:r="http://schemas.openxmlformats.org/officeDocument/2006/relationships" id="257" r:id="R13bbf09a599748ac"/>
    <p:sldId xmlns:r="http://schemas.openxmlformats.org/officeDocument/2006/relationships" id="258" r:id="R9712621daa3f4022"/>
    <p:sldId xmlns:r="http://schemas.openxmlformats.org/officeDocument/2006/relationships" id="259" r:id="Rd849460cec6e431d"/>
    <p:sldId xmlns:r="http://schemas.openxmlformats.org/officeDocument/2006/relationships" id="260" r:id="Rfeefaacb4fb245e9"/>
    <p:sldId xmlns:r="http://schemas.openxmlformats.org/officeDocument/2006/relationships" id="261" r:id="R23b5dce3b9854139"/>
    <p:sldId xmlns:r="http://schemas.openxmlformats.org/officeDocument/2006/relationships" id="262" r:id="Rc3f3cd01737c441f"/>
    <p:sldId xmlns:r="http://schemas.openxmlformats.org/officeDocument/2006/relationships" id="263" r:id="Rbf98c4febd994e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5b3a5486034ef0" /><Relationship Type="http://schemas.openxmlformats.org/officeDocument/2006/relationships/slideMaster" Target="/ppt/slideMasters/slideMaster1.xml" Id="R182d8546ca6149c0" /><Relationship Type="http://schemas.openxmlformats.org/officeDocument/2006/relationships/notesMaster" Target="/ppt/notesMasters/notesMaster1.xml" Id="Rf32741dc02474714" /><Relationship Type="http://schemas.openxmlformats.org/officeDocument/2006/relationships/presProps" Target="/ppt/presProps.xml" Id="R29e60348fd444efa" /><Relationship Type="http://schemas.openxmlformats.org/officeDocument/2006/relationships/tableStyles" Target="/ppt/tableStyles.xml" Id="Rd659b830e59e4ff9" /><Relationship Type="http://schemas.openxmlformats.org/officeDocument/2006/relationships/slide" Target="/ppt/slides/slide1.xml" Id="R1a3b4cf75c754299" /><Relationship Type="http://schemas.openxmlformats.org/officeDocument/2006/relationships/slide" Target="/ppt/slides/slide2.xml" Id="R13bbf09a599748ac" /><Relationship Type="http://schemas.openxmlformats.org/officeDocument/2006/relationships/slide" Target="/ppt/slides/slide3.xml" Id="R9712621daa3f4022" /><Relationship Type="http://schemas.openxmlformats.org/officeDocument/2006/relationships/slide" Target="/ppt/slides/slide4.xml" Id="Rd849460cec6e431d" /><Relationship Type="http://schemas.openxmlformats.org/officeDocument/2006/relationships/slide" Target="/ppt/slides/slide5.xml" Id="Rfeefaacb4fb245e9" /><Relationship Type="http://schemas.openxmlformats.org/officeDocument/2006/relationships/slide" Target="/ppt/slides/slide6.xml" Id="R23b5dce3b9854139" /><Relationship Type="http://schemas.openxmlformats.org/officeDocument/2006/relationships/slide" Target="/ppt/slides/slide7.xml" Id="Rc3f3cd01737c441f" /><Relationship Type="http://schemas.openxmlformats.org/officeDocument/2006/relationships/slide" Target="/ppt/slides/slide8.xml" Id="Rbf98c4febd994e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935d2a0a6e43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8c0a178a604736" /><Relationship Type="http://schemas.openxmlformats.org/officeDocument/2006/relationships/notesMaster" Target="/ppt/notesMasters/notesMaster1.xml" Id="R59674f70828b42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41cc660a99477d" /><Relationship Type="http://schemas.openxmlformats.org/officeDocument/2006/relationships/notesMaster" Target="/ppt/notesMasters/notesMaster1.xml" Id="R372048ccee4f4d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1e744a080541ee" /><Relationship Type="http://schemas.openxmlformats.org/officeDocument/2006/relationships/notesMaster" Target="/ppt/notesMasters/notesMaster1.xml" Id="Rf08edca5e67b4b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78118f2c294eb1" /><Relationship Type="http://schemas.openxmlformats.org/officeDocument/2006/relationships/notesMaster" Target="/ppt/notesMasters/notesMaster1.xml" Id="Ra59c1ba602e448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f81eaa15f5497b" /><Relationship Type="http://schemas.openxmlformats.org/officeDocument/2006/relationships/notesMaster" Target="/ppt/notesMasters/notesMaster1.xml" Id="R298abd09c9e241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30fa9a2dbd41fb" /><Relationship Type="http://schemas.openxmlformats.org/officeDocument/2006/relationships/notesMaster" Target="/ppt/notesMasters/notesMaster1.xml" Id="Rcacd52d97d5b46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78fe60311b4b5d" /><Relationship Type="http://schemas.openxmlformats.org/officeDocument/2006/relationships/notesMaster" Target="/ppt/notesMasters/notesMaster1.xml" Id="Radcfcc55044a42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e69f55a0b54bdb" /><Relationship Type="http://schemas.openxmlformats.org/officeDocument/2006/relationships/notesMaster" Target="/ppt/notesMasters/notesMaster1.xml" Id="Rf361910b35fa47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C:\Users\A8327\OneDrive\Documents\OI\work\loo_simulation\DGP_ESTIMATOR_RESULTS.tex</a:t>
            </a:r>
          </a:p>
          <a:p xmlns:a="http://schemas.openxmlformats.org/drawingml/2006/main">
            <a:r>
              <a:t>- C:\Users\A8327\OneDrive\Documents\OI\work\loo_simulation\results\dgp_estimator_matrix_cluster_v2\merged\config.json</a:t>
            </a:r>
          </a:p>
          <a:p xmlns:a="http://schemas.openxmlformats.org/drawingml/2006/main">
            <a:r>
              <a:t>- C:\Users\A8327\OneDrive\Documents\OI\work\loo_simulation\results\dgp_estimator_matrix_cluster_v2\merged\metadata.json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C:\Users\A8327\OneDrive\Documents\OI\work\loo_simulation\DGP_ESTIMATOR_RESULTS.tex</a:t>
            </a:r>
          </a:p>
          <a:p xmlns:a="http://schemas.openxmlformats.org/drawingml/2006/main">
            <a:r>
              <a:t>- C:\Users\A8327\OneDrive\Documents\OI\work\loo_simulation\reports\dgp_estimator_matrix_cluster_v2\figures\status-matrix.png</a:t>
            </a:r>
          </a:p>
          <a:p xmlns:a="http://schemas.openxmlformats.org/drawingml/2006/main">
            <a:r>
              <a:t>- C:\Users\A8327\OneDrive\Documents\OI\work\loo_simulation\results\dgp_estimator_matrix_cluster_v2\merged\attempt_summary.csv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C:\Users\A8327\OneDrive\Documents\OI\work\loo_simulation\reports\dgp_estimator_matrix_cluster_v2\figures\common-target-rmse.png</a:t>
            </a:r>
          </a:p>
          <a:p xmlns:a="http://schemas.openxmlformats.org/drawingml/2006/main">
            <a:r>
              <a:t>- C:\Users\A8327\OneDrive\Documents\OI\work\loo_simulation\reports\dgp_estimator_matrix_cluster_v2\tables\benchmark_accuracy.tex</a:t>
            </a:r>
          </a:p>
          <a:p xmlns:a="http://schemas.openxmlformats.org/drawingml/2006/main">
            <a:r>
              <a:t>- C:\Users\A8327\OneDrive\Documents\OI\work\loo_simulation\DGP_ESTIMATOR_RESULTS.tex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C:\Users\A8327\OneDrive\Documents\OI\work\loo_simulation\reports\dgp_estimator_matrix_cluster_v2\figures\rank-selection.png</a:t>
            </a:r>
          </a:p>
          <a:p xmlns:a="http://schemas.openxmlformats.org/drawingml/2006/main">
            <a:r>
              <a:t>- C:\Users\A8327\OneDrive\Documents\OI\work\loo_simulation\reports\dgp_estimator_matrix_cluster_v2\tables\rank_selection.csv</a:t>
            </a:r>
          </a:p>
          <a:p xmlns:a="http://schemas.openxmlformats.org/drawingml/2006/main">
            <a:r>
              <a:t>- C:\Users\A8327\OneDrive\Documents\OI\work\loo_simulation\src\loo_sim\low_rank.py</a:t>
            </a:r>
          </a:p>
          <a:p xmlns:a="http://schemas.openxmlformats.org/drawingml/2006/main">
            <a:r>
              <a:t>- C:\Users\A8327\OneDrive\Documents\OI\work\loo_simulation\DGP_ESTIMATOR_RESULTS.tex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C:\Users\A8327\OneDrive\Documents\OI\work\loo_simulation\reports\dgp_estimator_matrix_cluster_v2\figures\project-returned-vs-stable-rmse.png</a:t>
            </a:r>
          </a:p>
          <a:p xmlns:a="http://schemas.openxmlformats.org/drawingml/2006/main">
            <a:r>
              <a:t>- C:\Users\A8327\OneDrive\Documents\OI\work\loo_simulation\DGP_ESTIMATOR_RESULTS.tex</a:t>
            </a:r>
          </a:p>
          <a:p xmlns:a="http://schemas.openxmlformats.org/drawingml/2006/main">
            <a:r>
              <a:t>- C:\Users\A8327\OneDrive\Documents\OI\work\loo_simulation\reports\dgp_estimator_matrix_cluster_v2\tables\common_target_performance.csv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C:\Users\A8327\OneDrive\Documents\OI\work\loo_simulation\reports\dgp_estimator_matrix_cluster_v2\tables\project_numerical_diagnostics.csv</a:t>
            </a:r>
          </a:p>
          <a:p xmlns:a="http://schemas.openxmlformats.org/drawingml/2006/main">
            <a:r>
              <a:t>- C:\Users\A8327\OneDrive\Documents\OI\work\loo_simulation\src\loo_sim\low_rank.py</a:t>
            </a:r>
          </a:p>
          <a:p xmlns:a="http://schemas.openxmlformats.org/drawingml/2006/main">
            <a:r>
              <a:t>- C:\Users\A8327\OneDrive\Documents\OI\work\loo_simulation\DGP_ESTIMATOR_RESULTS.tex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C:\Users\A8327\OneDrive\Documents\OI\work\loo_simulation\reports\dgp_estimator_matrix_cluster_v2\figures\native-project-target-gaps.png</a:t>
            </a:r>
          </a:p>
          <a:p xmlns:a="http://schemas.openxmlformats.org/drawingml/2006/main">
            <a:r>
              <a:t>- C:\Users\A8327\OneDrive\Documents\OI\work\loo_simulation\reports\dgp_estimator_matrix_cluster_v2\tables\native_project_target_contrasts.csv</a:t>
            </a:r>
          </a:p>
          <a:p xmlns:a="http://schemas.openxmlformats.org/drawingml/2006/main">
            <a:r>
              <a:t>- C:\Users\A8327\OneDrive\Documents\OI\work\loo_simulation\reports\dgp_estimator_matrix_cluster_v2\tables\bs20_native_accuracy.csv</a:t>
            </a:r>
          </a:p>
          <a:p xmlns:a="http://schemas.openxmlformats.org/drawingml/2006/main">
            <a:r>
              <a:t>- C:\Users\A8327\OneDrive\Documents\OI\work\loo_simulation\DGP_ESTIMATOR_RESULTS.tex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C:\Users\A8327\OneDrive\Documents\OI\work\loo_simulation\README.md</a:t>
            </a:r>
          </a:p>
          <a:p xmlns:a="http://schemas.openxmlformats.org/drawingml/2006/main">
            <a:r>
              <a:t>- C:\Users\A8327\OneDrive\Documents\OI\work\loo_simulation\DGP_ESTIMATOR_RESULTS.tex</a:t>
            </a:r>
          </a:p>
          <a:p xmlns:a="http://schemas.openxmlformats.org/drawingml/2006/main">
            <a:r>
              <a:t>- C:\Users\A8327\OneDrive\Documents\OI\work\loo_simulation\src\loo_sim\low_rank.py</a:t>
            </a:r>
          </a:p>
          <a:p xmlns:a="http://schemas.openxmlformats.org/drawingml/2006/main">
            <a:r>
              <a:t>- C:\Users\A8327\OneDrive\Documents\OI\work\loo_simulation\configs\dgp_estimator_matrix_cluster.json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afdc4269b049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1973973e3f44c3" /><Relationship Type="http://schemas.openxmlformats.org/officeDocument/2006/relationships/slideLayout" Target="/ppt/slideLayouts/slideLayout1.xml" Id="Ra8e010257d7548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e010257d7548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25ead6aec425d" /><Relationship Type="http://schemas.openxmlformats.org/officeDocument/2006/relationships/notesSlide" Target="/ppt/notesSlides/notesSlide1.xml" Id="Rd7546a1288df4e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3569cd1204db1" /><Relationship Type="http://schemas.openxmlformats.org/officeDocument/2006/relationships/image" Target="/ppt/media/image.png" Id="R4c33d064d4154890" /><Relationship Type="http://schemas.openxmlformats.org/officeDocument/2006/relationships/notesSlide" Target="/ppt/notesSlides/notesSlide2.xml" Id="Rd08e9ed9ef914a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1b87c1eaf4e98" /><Relationship Type="http://schemas.openxmlformats.org/officeDocument/2006/relationships/image" Target="/ppt/media/image2.png" Id="R7bd5b1e338c2499b" /><Relationship Type="http://schemas.openxmlformats.org/officeDocument/2006/relationships/notesSlide" Target="/ppt/notesSlides/notesSlide3.xml" Id="R6ef71f4f19654b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ced22d3284219" /><Relationship Type="http://schemas.openxmlformats.org/officeDocument/2006/relationships/image" Target="/ppt/media/image3.png" Id="R34c4ffbd91b24a49" /><Relationship Type="http://schemas.openxmlformats.org/officeDocument/2006/relationships/notesSlide" Target="/ppt/notesSlides/notesSlide4.xml" Id="Rac7039a00ea743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b7135d80a4579" /><Relationship Type="http://schemas.openxmlformats.org/officeDocument/2006/relationships/image" Target="/ppt/media/image4.png" Id="Ra32a233196aa4b10" /><Relationship Type="http://schemas.openxmlformats.org/officeDocument/2006/relationships/image" Target="/ppt/media/image5.png" Id="Rbd435be593cc4069" /><Relationship Type="http://schemas.openxmlformats.org/officeDocument/2006/relationships/notesSlide" Target="/ppt/notesSlides/notesSlide5.xml" Id="R8710c1d5fa1845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9aed6fc1943f1" /><Relationship Type="http://schemas.openxmlformats.org/officeDocument/2006/relationships/notesSlide" Target="/ppt/notesSlides/notesSlide6.xml" Id="Rc5c4829cfb494f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f6810beac431f" /><Relationship Type="http://schemas.openxmlformats.org/officeDocument/2006/relationships/image" Target="/ppt/media/image6.png" Id="R8ac8bd3527ec40fc" /><Relationship Type="http://schemas.openxmlformats.org/officeDocument/2006/relationships/notesSlide" Target="/ppt/notesSlides/notesSlide7.xml" Id="R0253525fd3f642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20d07970a4abb" /><Relationship Type="http://schemas.openxmlformats.org/officeDocument/2006/relationships/notesSlide" Target="/ppt/notesSlides/notesSlide8.xml" Id="R63c9118e032447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overline">
            <a:extLst xmlns:a="http://schemas.openxmlformats.org/drawingml/2006/main">
              <a:ext uri="{FF2B5EF4-FFF2-40B4-BE49-F238E27FC236}">
                <a16:creationId xmlns:a16="http://schemas.microsoft.com/office/drawing/2014/main" id="{4D3C5875-B09C-401D-A253-8FF2A6EA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LOO PROJECT · PRODUCTION MONTE CARLO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D52928FA-1164-4D2C-B52D-9491E538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95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6F071C6-C4EF-4245-A5CB-E20BA657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9715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survives a full</a:t>
            </a:r>
          </a:p>
          <a:p xmlns:a="http://schemas.openxmlformats.org/drawingml/2006/main">
            <a:pPr algn="l">
              <a:defRPr sz="4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DGP × procedure comparison?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9F87016-FBA3-46A7-B7E7-EB5200BE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 visual summary of 500 simulated labor markets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84FC2B0B-4EFC-435D-9BE5-29B90B2E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design">
            <a:extLst xmlns:a="http://schemas.openxmlformats.org/drawingml/2006/main">
              <a:ext uri="{FF2B5EF4-FFF2-40B4-BE49-F238E27FC236}">
                <a16:creationId xmlns:a16="http://schemas.microsoft.com/office/drawing/2014/main" id="{46D25E82-B3C2-467E-B621-6710F853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25,000 workers  ·  5,000 firms  ·  60 periods  ·  100 replications per DGP</a:t>
            </a:r>
          </a:p>
        </p:txBody>
      </p:sp>
      <p:sp>
        <p:nvSpPr>
          <p:cNvPr id="7" name="cover-caveat">
            <a:extLst xmlns:a="http://schemas.openxmlformats.org/drawingml/2006/main">
              <a:ext uri="{FF2B5EF4-FFF2-40B4-BE49-F238E27FC236}">
                <a16:creationId xmlns:a16="http://schemas.microsoft.com/office/drawing/2014/main" id="{2E79BA3B-09C0-4659-9EB4-0A45AA02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Current project procedure: BIC-selected low-rank plug-in; full LOO bias correction not yet evaluated.</a:t>
            </a:r>
          </a:p>
        </p:txBody>
      </p:sp>
      <p:sp>
        <p:nvSpPr>
          <p:cNvPr id="8" name="slide-1-footer-label">
            <a:extLst xmlns:a="http://schemas.openxmlformats.org/drawingml/2006/main">
              <a:ext uri="{FF2B5EF4-FFF2-40B4-BE49-F238E27FC236}">
                <a16:creationId xmlns:a16="http://schemas.microsoft.com/office/drawing/2014/main" id="{784BBAF3-932A-4992-93A5-6CF96E44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LOO simulation · visual summary</a:t>
            </a:r>
          </a:p>
        </p:txBody>
      </p:sp>
      <p:sp>
        <p:nvSpPr>
          <p:cNvPr id="9" name="slide-1-footer-number">
            <a:extLst xmlns:a="http://schemas.openxmlformats.org/drawingml/2006/main">
              <a:ext uri="{FF2B5EF4-FFF2-40B4-BE49-F238E27FC236}">
                <a16:creationId xmlns:a16="http://schemas.microsoft.com/office/drawing/2014/main" id="{17F8FFC5-AA17-403A-9E56-B44DBF7E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765022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BF4F72F-93C7-46A0-B058-1FA62B16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procedure was run under every DGP</a:t>
            </a:r>
          </a:p>
        </p:txBody>
      </p:sp>
      <p:sp>
        <p:nvSpPr>
          <p:cNvPr id="2" name="slide-2-title-rule">
            <a:extLst xmlns:a="http://schemas.openxmlformats.org/drawingml/2006/main">
              <a:ext uri="{FF2B5EF4-FFF2-40B4-BE49-F238E27FC236}">
                <a16:creationId xmlns:a16="http://schemas.microsoft.com/office/drawing/2014/main" id="{C6275909-45E4-4594-8471-0B48DD8A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model-equation">
            <a:extLst xmlns:a="http://schemas.openxmlformats.org/drawingml/2006/main">
              <a:ext uri="{FF2B5EF4-FFF2-40B4-BE49-F238E27FC236}">
                <a16:creationId xmlns:a16="http://schemas.microsoft.com/office/drawing/2014/main" id="{2BF86A62-F380-462D-A07D-86B904BF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Yᵢⱼ = Xᵢⱼ′δ + αᵢ + ψⱼ + uᵢ′Λvⱼ + εᵢⱼ,     rank(Λ) = r</a:t>
            </a:r>
          </a:p>
        </p:txBody>
      </p:sp>
      <p:sp>
        <p:nvSpPr>
          <p:cNvPr id="4" name="simulation-restriction">
            <a:extLst xmlns:a="http://schemas.openxmlformats.org/drawingml/2006/main">
              <a:ext uri="{FF2B5EF4-FFF2-40B4-BE49-F238E27FC236}">
                <a16:creationId xmlns:a16="http://schemas.microsoft.com/office/drawing/2014/main" id="{F97EB65E-41EF-4D6F-84F8-DEB4F7F1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143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Simulation sets Xᵢⱼ′δ = 0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3d064d4154890"/>
          <a:stretch xmlns:a="http://schemas.openxmlformats.org/drawingml/2006/main"/>
        </p:blipFill>
        <p:spPr>
          <a:xfrm xmlns:a="http://schemas.openxmlformats.org/drawingml/2006/main">
            <a:off x="2267067" y="1543050"/>
            <a:ext cx="7657866" cy="4610100"/>
          </a:xfrm>
          <a:prstGeom xmlns:a="http://schemas.openxmlformats.org/drawingml/2006/main" prst="rect">
            <a:avLst/>
          </a:prstGeom>
        </p:spPr>
      </p:pic>
      <p:sp>
        <p:nvSpPr>
          <p:cNvPr id="6" name="slide-2-footer-label">
            <a:extLst xmlns:a="http://schemas.openxmlformats.org/drawingml/2006/main">
              <a:ext uri="{FF2B5EF4-FFF2-40B4-BE49-F238E27FC236}">
                <a16:creationId xmlns:a16="http://schemas.microsoft.com/office/drawing/2014/main" id="{974AF172-7769-476E-9F27-F87819A3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LOO simulation · visual summary</a:t>
            </a:r>
          </a:p>
        </p:txBody>
      </p:sp>
      <p:sp>
        <p:nvSpPr>
          <p:cNvPr id="7" name="slide-2-footer-number">
            <a:extLst xmlns:a="http://schemas.openxmlformats.org/drawingml/2006/main">
              <a:ext uri="{FF2B5EF4-FFF2-40B4-BE49-F238E27FC236}">
                <a16:creationId xmlns:a16="http://schemas.microsoft.com/office/drawing/2014/main" id="{F816A203-EFA9-4ACE-8D49-30723F5B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556383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F8E55A13-C37F-4B40-9331-33E49D04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Correctly specified benchmarks behave as designed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63CDA433-43FF-43FC-BB2D-7303027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5b1e338c2499b"/>
          <a:stretch xmlns:a="http://schemas.openxmlformats.org/drawingml/2006/main"/>
        </p:blipFill>
        <p:spPr>
          <a:xfrm xmlns:a="http://schemas.openxmlformats.org/drawingml/2006/main">
            <a:off x="1099584" y="1066800"/>
            <a:ext cx="6611457" cy="5191125"/>
          </a:xfrm>
          <a:prstGeom xmlns:a="http://schemas.openxmlformats.org/drawingml/2006/main" prst="rect">
            <a:avLst/>
          </a:prstGeom>
        </p:spPr>
      </p:pic>
      <p:sp>
        <p:nvSpPr>
          <p:cNvPr id="4" name="kss-head">
            <a:extLst xmlns:a="http://schemas.openxmlformats.org/drawingml/2006/main">
              <a:ext uri="{FF2B5EF4-FFF2-40B4-BE49-F238E27FC236}">
                <a16:creationId xmlns:a16="http://schemas.microsoft.com/office/drawing/2014/main" id="{A58D89D9-9586-4A10-A1A7-5910FBB3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57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KSS under AKM</a:t>
            </a:r>
          </a:p>
        </p:txBody>
      </p:sp>
      <p:sp>
        <p:nvSpPr>
          <p:cNvPr id="5" name="kss-number">
            <a:extLst xmlns:a="http://schemas.openxmlformats.org/drawingml/2006/main">
              <a:ext uri="{FF2B5EF4-FFF2-40B4-BE49-F238E27FC236}">
                <a16:creationId xmlns:a16="http://schemas.microsoft.com/office/drawing/2014/main" id="{3C48B35B-E680-4E3C-A400-A7A8277B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19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0.0025</a:t>
            </a:r>
          </a:p>
        </p:txBody>
      </p:sp>
      <p:sp>
        <p:nvSpPr>
          <p:cNvPr id="6" name="kss-body">
            <a:extLst xmlns:a="http://schemas.openxmlformats.org/drawingml/2006/main">
              <a:ext uri="{FF2B5EF4-FFF2-40B4-BE49-F238E27FC236}">
                <a16:creationId xmlns:a16="http://schemas.microsoft.com/office/drawing/2014/main" id="{5510A23D-D337-4044-8B5F-E0BED840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098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RMSE(Q_F); H_F = ρ_H = 0 by construction</a:t>
            </a:r>
          </a:p>
        </p:txBody>
      </p:sp>
      <p:sp>
        <p:nvSpPr>
          <p:cNvPr id="7" name="rail-rule-1">
            <a:extLst xmlns:a="http://schemas.openxmlformats.org/drawingml/2006/main">
              <a:ext uri="{FF2B5EF4-FFF2-40B4-BE49-F238E27FC236}">
                <a16:creationId xmlns:a16="http://schemas.microsoft.com/office/drawing/2014/main" id="{A96E000F-F20A-499C-A1AE-3ABCA59E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lm-head">
            <a:extLst xmlns:a="http://schemas.openxmlformats.org/drawingml/2006/main">
              <a:ext uri="{FF2B5EF4-FFF2-40B4-BE49-F238E27FC236}">
                <a16:creationId xmlns:a16="http://schemas.microsoft.com/office/drawing/2014/main" id="{7B127482-6F07-4AB2-A321-ABCECFF0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BLM under BLM DGP</a:t>
            </a:r>
          </a:p>
        </p:txBody>
      </p:sp>
      <p:sp>
        <p:nvSpPr>
          <p:cNvPr id="9" name="blm-number">
            <a:extLst xmlns:a="http://schemas.openxmlformats.org/drawingml/2006/main">
              <a:ext uri="{FF2B5EF4-FFF2-40B4-BE49-F238E27FC236}">
                <a16:creationId xmlns:a16="http://schemas.microsoft.com/office/drawing/2014/main" id="{678E9A15-C835-4369-B58F-8BBEA65D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814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0.0949</a:t>
            </a:r>
          </a:p>
        </p:txBody>
      </p:sp>
      <p:sp>
        <p:nvSpPr>
          <p:cNvPr id="10" name="blm-body">
            <a:extLst xmlns:a="http://schemas.openxmlformats.org/drawingml/2006/main">
              <a:ext uri="{FF2B5EF4-FFF2-40B4-BE49-F238E27FC236}">
                <a16:creationId xmlns:a16="http://schemas.microsoft.com/office/drawing/2014/main" id="{D1C625F6-6DDE-453D-8454-7320F57C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719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RMSE(Q_F); RMSE(H_F) = 0.0719</a:t>
            </a:r>
          </a:p>
        </p:txBody>
      </p:sp>
      <p:sp>
        <p:nvSpPr>
          <p:cNvPr id="11" name="rail-rule-2">
            <a:extLst xmlns:a="http://schemas.openxmlformats.org/drawingml/2006/main">
              <a:ext uri="{FF2B5EF4-FFF2-40B4-BE49-F238E27FC236}">
                <a16:creationId xmlns:a16="http://schemas.microsoft.com/office/drawing/2014/main" id="{1BE94DDD-05DB-46C5-BADE-4447B03D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s20-head">
            <a:extLst xmlns:a="http://schemas.openxmlformats.org/drawingml/2006/main">
              <a:ext uri="{FF2B5EF4-FFF2-40B4-BE49-F238E27FC236}">
                <a16:creationId xmlns:a16="http://schemas.microsoft.com/office/drawing/2014/main" id="{1B94169B-8621-4CDD-B4FE-86E5E1CE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86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BS20 is N/A</a:t>
            </a:r>
          </a:p>
        </p:txBody>
      </p:sp>
      <p:sp>
        <p:nvSpPr>
          <p:cNvPr id="13" name="bs20-body">
            <a:extLst xmlns:a="http://schemas.openxmlformats.org/drawingml/2006/main">
              <a:ext uri="{FF2B5EF4-FFF2-40B4-BE49-F238E27FC236}">
                <a16:creationId xmlns:a16="http://schemas.microsoft.com/office/drawing/2014/main" id="{7E513B98-3620-4F58-B102-792884FA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768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BS20 estimates ρ_BS and C_BS—not the four project estimands.</a:t>
            </a:r>
          </a:p>
        </p:txBody>
      </p:sp>
      <p:sp>
        <p:nvSpPr>
          <p:cNvPr id="14" name="slide-3-footer-label">
            <a:extLst xmlns:a="http://schemas.openxmlformats.org/drawingml/2006/main">
              <a:ext uri="{FF2B5EF4-FFF2-40B4-BE49-F238E27FC236}">
                <a16:creationId xmlns:a16="http://schemas.microsoft.com/office/drawing/2014/main" id="{B4B7F824-3CE4-4AA1-80F3-5CD42C8B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LOO simulation · visual summary</a:t>
            </a:r>
          </a:p>
        </p:txBody>
      </p:sp>
      <p:sp>
        <p:nvSpPr>
          <p:cNvPr id="15" name="slide-3-footer-number">
            <a:extLst xmlns:a="http://schemas.openxmlformats.org/drawingml/2006/main">
              <a:ext uri="{FF2B5EF4-FFF2-40B4-BE49-F238E27FC236}">
                <a16:creationId xmlns:a16="http://schemas.microsoft.com/office/drawing/2014/main" id="{047B7D2D-4D68-45FB-A35F-03A247AA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974523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45C974F-CC63-47AB-94A8-0E877E64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 rank selection does not guarantee reproducible completion</a:t>
            </a:r>
          </a:p>
        </p:txBody>
      </p:sp>
      <p:sp>
        <p:nvSpPr>
          <p:cNvPr id="2" name="slide-4-title-rule">
            <a:extLst xmlns:a="http://schemas.openxmlformats.org/drawingml/2006/main">
              <a:ext uri="{FF2B5EF4-FFF2-40B4-BE49-F238E27FC236}">
                <a16:creationId xmlns:a16="http://schemas.microsoft.com/office/drawing/2014/main" id="{98806755-6C03-4AE5-BE95-118CC32A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4ffbd91b24a49"/>
          <a:stretch xmlns:a="http://schemas.openxmlformats.org/drawingml/2006/main"/>
        </p:blipFill>
        <p:spPr>
          <a:xfrm xmlns:a="http://schemas.openxmlformats.org/drawingml/2006/main">
            <a:off x="228600" y="1202418"/>
            <a:ext cx="8096250" cy="4815114"/>
          </a:xfrm>
          <a:prstGeom xmlns:a="http://schemas.openxmlformats.org/drawingml/2006/main" prst="rect">
            <a:avLst/>
          </a:prstGeom>
        </p:spPr>
      </p:pic>
      <p:sp>
        <p:nvSpPr>
          <p:cNvPr id="4" name="rank-total">
            <a:extLst xmlns:a="http://schemas.openxmlformats.org/drawingml/2006/main">
              <a:ext uri="{FF2B5EF4-FFF2-40B4-BE49-F238E27FC236}">
                <a16:creationId xmlns:a16="http://schemas.microsoft.com/office/drawing/2014/main" id="{AE059CC9-B835-4516-8E07-77579192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620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500 / 500</a:t>
            </a:r>
          </a:p>
        </p:txBody>
      </p:sp>
      <p:sp>
        <p:nvSpPr>
          <p:cNvPr id="5" name="rank-total-label">
            <a:extLst xmlns:a="http://schemas.openxmlformats.org/drawingml/2006/main">
              <a:ext uri="{FF2B5EF4-FFF2-40B4-BE49-F238E27FC236}">
                <a16:creationId xmlns:a16="http://schemas.microsoft.com/office/drawing/2014/main" id="{E6693113-C868-4DFA-8191-347EF12A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859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populations at the correct BIC rank</a:t>
            </a:r>
          </a:p>
        </p:txBody>
      </p:sp>
      <p:sp>
        <p:nvSpPr>
          <p:cNvPr id="6" name="rank-rule">
            <a:extLst xmlns:a="http://schemas.openxmlformats.org/drawingml/2006/main">
              <a:ext uri="{FF2B5EF4-FFF2-40B4-BE49-F238E27FC236}">
                <a16:creationId xmlns:a16="http://schemas.microsoft.com/office/drawing/2014/main" id="{D8700B41-A51B-45C9-9EC7-3E854D0D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arn-head">
            <a:extLst xmlns:a="http://schemas.openxmlformats.org/drawingml/2006/main">
              <a:ext uri="{FF2B5EF4-FFF2-40B4-BE49-F238E27FC236}">
                <a16:creationId xmlns:a16="http://schemas.microsoft.com/office/drawing/2014/main" id="{6150743C-616D-4749-A2DA-0802E38B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is a project warning?</a:t>
            </a:r>
          </a:p>
        </p:txBody>
      </p:sp>
      <p:sp>
        <p:nvSpPr>
          <p:cNvPr id="8" name="warn-definition">
            <a:extLst xmlns:a="http://schemas.openxmlformats.org/drawingml/2006/main">
              <a:ext uri="{FF2B5EF4-FFF2-40B4-BE49-F238E27FC236}">
                <a16:creationId xmlns:a16="http://schemas.microsoft.com/office/drawing/2014/main" id="{A58E9CD7-2306-4114-B66E-EFCBBC8D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241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 finite estimate was returned, but its positive-rank fit failed at least one reproducibility condition:</a:t>
            </a:r>
          </a:p>
        </p:txBody>
      </p:sp>
      <p:sp>
        <p:nvSpPr>
          <p:cNvPr id="9" name="warn-conditions">
            <a:extLst xmlns:a="http://schemas.openxmlformats.org/drawingml/2006/main">
              <a:ext uri="{FF2B5EF4-FFF2-40B4-BE49-F238E27FC236}">
                <a16:creationId xmlns:a16="http://schemas.microsoft.com/office/drawing/2014/main" id="{5F932116-D009-4C5B-820D-8E0BEB4B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29000"/>
            <a:ext cx="2809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Best ALS fit did not converge.</a:t>
            </a:r>
          </a:p>
          <a:p xmlns:a="http://schemas.openxmlformats.org/drawingml/2006/main">
            <a:pPr algn="l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Fewer than two near-best starts.</a:t>
            </a:r>
          </a:p>
          <a:p xmlns:a="http://schemas.openxmlformats.org/drawingml/2006/main">
            <a:pPr algn="l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Near-best starts disagree on Q_F, H_F, or C^w_assign beyond tolerance.</a:t>
            </a:r>
          </a:p>
        </p:txBody>
      </p:sp>
      <p:sp>
        <p:nvSpPr>
          <p:cNvPr id="10" name="warn-thresholds">
            <a:extLst xmlns:a="http://schemas.openxmlformats.org/drawingml/2006/main">
              <a:ext uri="{FF2B5EF4-FFF2-40B4-BE49-F238E27FC236}">
                <a16:creationId xmlns:a16="http://schemas.microsoft.com/office/drawing/2014/main" id="{CD0667F9-5EAC-4AE3-8057-6025EE9E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577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34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Near-best objective: within 10^-4 max(1,O*).</a:t>
            </a:r>
          </a:p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Functional spread limit: 10^-3 max(1,|theta*|).</a:t>
            </a:r>
          </a:p>
        </p:txBody>
      </p:sp>
      <p:sp>
        <p:nvSpPr>
          <p:cNvPr id="11" name="warn-counts">
            <a:extLst xmlns:a="http://schemas.openxmlformats.org/drawingml/2006/main">
              <a:ext uri="{FF2B5EF4-FFF2-40B4-BE49-F238E27FC236}">
                <a16:creationId xmlns:a16="http://schemas.microsoft.com/office/drawing/2014/main" id="{F91C85BF-B5E9-43FF-8D58-A358B0C2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530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Warnings: 61 Crippa/Tukey  |  15 BLM  |  7 low-rank</a:t>
            </a:r>
          </a:p>
        </p:txBody>
      </p:sp>
      <p:sp>
        <p:nvSpPr>
          <p:cNvPr id="12" name="rank-takeaway">
            <a:extLst xmlns:a="http://schemas.openxmlformats.org/drawingml/2006/main">
              <a:ext uri="{FF2B5EF4-FFF2-40B4-BE49-F238E27FC236}">
                <a16:creationId xmlns:a16="http://schemas.microsoft.com/office/drawing/2014/main" id="{5F26D06C-A244-4700-B489-0939606E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8578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Rank asks which model size wins. A warning asks whether nearly equal-fitting solutions imply the same economic objects.</a:t>
            </a:r>
          </a:p>
        </p:txBody>
      </p:sp>
      <p:sp>
        <p:nvSpPr>
          <p:cNvPr id="13" name="slide-4-footer-label">
            <a:extLst xmlns:a="http://schemas.openxmlformats.org/drawingml/2006/main">
              <a:ext uri="{FF2B5EF4-FFF2-40B4-BE49-F238E27FC236}">
                <a16:creationId xmlns:a16="http://schemas.microsoft.com/office/drawing/2014/main" id="{504BAC25-DF8D-4E9F-8A51-C3891BA3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LOO simulation · visual summary</a:t>
            </a:r>
          </a:p>
        </p:txBody>
      </p:sp>
      <p:sp>
        <p:nvSpPr>
          <p:cNvPr id="14" name="slide-4-footer-number">
            <a:extLst xmlns:a="http://schemas.openxmlformats.org/drawingml/2006/main">
              <a:ext uri="{FF2B5EF4-FFF2-40B4-BE49-F238E27FC236}">
                <a16:creationId xmlns:a16="http://schemas.microsoft.com/office/drawing/2014/main" id="{75C6E853-F77B-467A-9F9D-903D7A6D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861816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A899B96F-54D9-48ED-AF95-6B4EC0F5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Warning fits create the large RMSE tail</a:t>
            </a:r>
          </a:p>
        </p:txBody>
      </p:sp>
      <p:sp>
        <p:nvSpPr>
          <p:cNvPr id="2" name="slide-5-title-rule">
            <a:extLst xmlns:a="http://schemas.openxmlformats.org/drawingml/2006/main">
              <a:ext uri="{FF2B5EF4-FFF2-40B4-BE49-F238E27FC236}">
                <a16:creationId xmlns:a16="http://schemas.microsoft.com/office/drawing/2014/main" id="{75002525-067E-421B-BF7F-E699F960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ail-dgps">
            <a:extLst xmlns:a="http://schemas.openxmlformats.org/drawingml/2006/main">
              <a:ext uri="{FF2B5EF4-FFF2-40B4-BE49-F238E27FC236}">
                <a16:creationId xmlns:a16="http://schemas.microsoft.com/office/drawing/2014/main" id="{08983F22-46F2-465C-BF0E-6E1C8253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Nonadditive DGPs shown: Crippa/Tukey  |  BLM types  |  Low-rank factors  |  GKLP</a:t>
            </a:r>
          </a:p>
        </p:txBody>
      </p:sp>
      <p:sp>
        <p:nvSpPr>
          <p:cNvPr id="4" name="tail-legend-returned">
            <a:extLst xmlns:a="http://schemas.openxmlformats.org/drawingml/2006/main">
              <a:ext uri="{FF2B5EF4-FFF2-40B4-BE49-F238E27FC236}">
                <a16:creationId xmlns:a16="http://schemas.microsoft.com/office/drawing/2014/main" id="{D687659F-1100-418A-9FC5-602F6953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02870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all returned</a:t>
            </a:r>
          </a:p>
        </p:txBody>
      </p:sp>
      <p:sp>
        <p:nvSpPr>
          <p:cNvPr id="5" name="tail-legend-pass">
            <a:extLst xmlns:a="http://schemas.openxmlformats.org/drawingml/2006/main">
              <a:ext uri="{FF2B5EF4-FFF2-40B4-BE49-F238E27FC236}">
                <a16:creationId xmlns:a16="http://schemas.microsoft.com/office/drawing/2014/main" id="{5F4ED93D-7C2B-4BAC-95F2-79D5D776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0287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diagnostic pass only</a:t>
            </a:r>
          </a:p>
        </p:txBody>
      </p:sp>
      <p:sp>
        <p:nvSpPr>
          <p:cNvPr id="6" name="tail-q-label">
            <a:extLst xmlns:a="http://schemas.openxmlformats.org/drawingml/2006/main">
              <a:ext uri="{FF2B5EF4-FFF2-40B4-BE49-F238E27FC236}">
                <a16:creationId xmlns:a16="http://schemas.microsoft.com/office/drawing/2014/main" id="{33B4FEDD-4FBE-4EAE-BA8B-1F4295E1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333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Q_F</a:t>
            </a:r>
          </a:p>
        </p:txBody>
      </p:sp>
      <p:sp>
        <p:nvSpPr>
          <p:cNvPr id="7" name="tail-c-label">
            <a:extLst xmlns:a="http://schemas.openxmlformats.org/drawingml/2006/main">
              <a:ext uri="{FF2B5EF4-FFF2-40B4-BE49-F238E27FC236}">
                <a16:creationId xmlns:a16="http://schemas.microsoft.com/office/drawing/2014/main" id="{386A07E0-82E7-4F57-AB4F-62CE290D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33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C^w_assign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a233196aa4b10"/>
          <a:stretch xmlns:a="http://schemas.openxmlformats.org/drawingml/2006/main"/>
        </p:blipFill>
        <p:spPr>
          <a:xfrm xmlns:a="http://schemas.openxmlformats.org/drawingml/2006/main">
            <a:off x="457200" y="1638520"/>
            <a:ext cx="5238750" cy="2866585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35be593cc4069"/>
          <a:stretch xmlns:a="http://schemas.openxmlformats.org/drawingml/2006/main"/>
        </p:blipFill>
        <p:spPr>
          <a:xfrm xmlns:a="http://schemas.openxmlformats.org/drawingml/2006/main">
            <a:off x="6611903" y="1619250"/>
            <a:ext cx="4435543" cy="2905125"/>
          </a:xfrm>
          <a:prstGeom xmlns:a="http://schemas.openxmlformats.org/drawingml/2006/main" prst="rect">
            <a:avLst/>
          </a:prstGeom>
        </p:spPr>
      </p:pic>
      <p:sp>
        <p:nvSpPr>
          <p:cNvPr id="10" name="tail-separator">
            <a:extLst xmlns:a="http://schemas.openxmlformats.org/drawingml/2006/main">
              <a:ext uri="{FF2B5EF4-FFF2-40B4-BE49-F238E27FC236}">
                <a16:creationId xmlns:a16="http://schemas.microsoft.com/office/drawing/2014/main" id="{0A1087AC-5CBB-453A-B477-ACC3DC75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ll-returned-head">
            <a:extLst xmlns:a="http://schemas.openxmlformats.org/drawingml/2006/main">
              <a:ext uri="{FF2B5EF4-FFF2-40B4-BE49-F238E27FC236}">
                <a16:creationId xmlns:a16="http://schemas.microsoft.com/office/drawing/2014/main" id="{6CCE43CC-2313-4102-A3E9-72FE15AC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All returned</a:t>
            </a:r>
          </a:p>
        </p:txBody>
      </p:sp>
      <p:sp>
        <p:nvSpPr>
          <p:cNvPr id="12" name="all-returned-body">
            <a:extLst xmlns:a="http://schemas.openxmlformats.org/drawingml/2006/main">
              <a:ext uri="{FF2B5EF4-FFF2-40B4-BE49-F238E27FC236}">
                <a16:creationId xmlns:a16="http://schemas.microsoft.com/office/drawing/2014/main" id="{3D18C32F-F69F-452E-B219-543E06B3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Every finite project estimate, warnings included. This is the unconditional performance of the procedure actually run.</a:t>
            </a:r>
          </a:p>
        </p:txBody>
      </p:sp>
      <p:sp>
        <p:nvSpPr>
          <p:cNvPr id="13" name="pass-only-head">
            <a:extLst xmlns:a="http://schemas.openxmlformats.org/drawingml/2006/main">
              <a:ext uri="{FF2B5EF4-FFF2-40B4-BE49-F238E27FC236}">
                <a16:creationId xmlns:a16="http://schemas.microsoft.com/office/drawing/2014/main" id="{8C3585A5-59FE-4584-BEE4-B17B9713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57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Diagnostic pass only</a:t>
            </a:r>
          </a:p>
        </p:txBody>
      </p:sp>
      <p:sp>
        <p:nvSpPr>
          <p:cNvPr id="14" name="pass-only-body">
            <a:extLst xmlns:a="http://schemas.openxmlformats.org/drawingml/2006/main">
              <a:ext uri="{FF2B5EF4-FFF2-40B4-BE49-F238E27FC236}">
                <a16:creationId xmlns:a16="http://schemas.microsoft.com/office/drawing/2014/main" id="{DAA84C1E-8A72-489C-A9F3-0C942A1A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197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The same estimator after removing warning fits. It is a sensitivity calculation, not a competing estimator or a valid replacement for unconditional RMSE.</a:t>
            </a:r>
          </a:p>
        </p:txBody>
      </p:sp>
      <p:sp>
        <p:nvSpPr>
          <p:cNvPr id="15" name="tail-meaning-head">
            <a:extLst xmlns:a="http://schemas.openxmlformats.org/drawingml/2006/main">
              <a:ext uri="{FF2B5EF4-FFF2-40B4-BE49-F238E27FC236}">
                <a16:creationId xmlns:a16="http://schemas.microsoft.com/office/drawing/2014/main" id="{A3DC59C8-796C-4B77-8D13-0366F7A5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57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to read the gap</a:t>
            </a:r>
          </a:p>
        </p:txBody>
      </p:sp>
      <p:sp>
        <p:nvSpPr>
          <p:cNvPr id="16" name="tail-meaning-body">
            <a:extLst xmlns:a="http://schemas.openxmlformats.org/drawingml/2006/main">
              <a:ext uri="{FF2B5EF4-FFF2-40B4-BE49-F238E27FC236}">
                <a16:creationId xmlns:a16="http://schemas.microsoft.com/office/drawing/2014/main" id="{A0954CF1-5706-4DFA-8DB4-9AC7C1EA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197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RMSE squares errors. Five replications generate 91-100% of Q_F squared error in Crippa, BLM, and low-rank. The warnings locate this tail concentration.</a:t>
            </a:r>
          </a:p>
        </p:txBody>
      </p:sp>
      <p:sp>
        <p:nvSpPr>
          <p:cNvPr id="17" name="slide-5-footer-label">
            <a:extLst xmlns:a="http://schemas.openxmlformats.org/drawingml/2006/main">
              <a:ext uri="{FF2B5EF4-FFF2-40B4-BE49-F238E27FC236}">
                <a16:creationId xmlns:a16="http://schemas.microsoft.com/office/drawing/2014/main" id="{3CD34F49-1E50-432D-AB6B-E452693D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LOO simulation · visual summary</a:t>
            </a:r>
          </a:p>
        </p:txBody>
      </p:sp>
      <p:sp>
        <p:nvSpPr>
          <p:cNvPr id="18" name="slide-5-footer-number">
            <a:extLst xmlns:a="http://schemas.openxmlformats.org/drawingml/2006/main">
              <a:ext uri="{FF2B5EF4-FFF2-40B4-BE49-F238E27FC236}">
                <a16:creationId xmlns:a16="http://schemas.microsoft.com/office/drawing/2014/main" id="{31F485FF-653F-4A3A-A579-458BD1F5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969034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366B8960-CD7B-46A9-8010-7C4FE133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some completed schedules become numerically unstable</a:t>
            </a:r>
          </a:p>
        </p:txBody>
      </p:sp>
      <p:sp>
        <p:nvSpPr>
          <p:cNvPr id="2" name="slide-6-title-rule">
            <a:extLst xmlns:a="http://schemas.openxmlformats.org/drawingml/2006/main">
              <a:ext uri="{FF2B5EF4-FFF2-40B4-BE49-F238E27FC236}">
                <a16:creationId xmlns:a16="http://schemas.microsoft.com/office/drawing/2014/main" id="{09172F60-28DD-4B6B-A9D1-72FF40EE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instability-definition-band">
            <a:extLst xmlns:a="http://schemas.openxmlformats.org/drawingml/2006/main">
              <a:ext uri="{FF2B5EF4-FFF2-40B4-BE49-F238E27FC236}">
                <a16:creationId xmlns:a16="http://schemas.microsoft.com/office/drawing/2014/main" id="{19C3C2EF-1567-49A0-B313-BC755844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nstability-definition">
            <a:extLst xmlns:a="http://schemas.openxmlformats.org/drawingml/2006/main">
              <a:ext uri="{FF2B5EF4-FFF2-40B4-BE49-F238E27FC236}">
                <a16:creationId xmlns:a16="http://schemas.microsoft.com/office/drawing/2014/main" id="{18AE71C6-21D8-4F2D-BE25-C89B0A2B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Instability here means that starts with almost the same fit to observed match means imply materially different completed schedules - and therefore different Q_F, H_F, or C^w_assign.</a:t>
            </a:r>
          </a:p>
        </p:txBody>
      </p:sp>
      <p:sp>
        <p:nvSpPr>
          <p:cNvPr id="5" name="mechanism-1-head">
            <a:extLst xmlns:a="http://schemas.openxmlformats.org/drawingml/2006/main">
              <a:ext uri="{FF2B5EF4-FFF2-40B4-BE49-F238E27FC236}">
                <a16:creationId xmlns:a16="http://schemas.microsoft.com/office/drawing/2014/main" id="{4C5D3575-1C2A-486B-9CA0-4D2406D9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145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  Local factor update</a:t>
            </a:r>
          </a:p>
        </p:txBody>
      </p:sp>
      <p:sp>
        <p:nvSpPr>
          <p:cNvPr id="6" name="mechanism-1-body">
            <a:extLst xmlns:a="http://schemas.openxmlformats.org/drawingml/2006/main">
              <a:ext uri="{FF2B5EF4-FFF2-40B4-BE49-F238E27FC236}">
                <a16:creationId xmlns:a16="http://schemas.microsoft.com/office/drawing/2014/main" id="{7782E1F4-160B-4C55-BA24-7289362B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33650"/>
            <a:ext cx="333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ALS estimates a worker's intercept and factor coordinates from the factor vectors of firms that worker visited; firm updates are analogous.</a:t>
            </a:r>
          </a:p>
        </p:txBody>
      </p:sp>
      <p:sp>
        <p:nvSpPr>
          <p:cNvPr id="7" name="mechanism-rule-1">
            <a:extLst xmlns:a="http://schemas.openxmlformats.org/drawingml/2006/main">
              <a:ext uri="{FF2B5EF4-FFF2-40B4-BE49-F238E27FC236}">
                <a16:creationId xmlns:a16="http://schemas.microsoft.com/office/drawing/2014/main" id="{CF27B1F0-5B5C-4D34-8829-D1895C07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57400"/>
            <a:ext cx="95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chanism-2-head">
            <a:extLst xmlns:a="http://schemas.openxmlformats.org/drawingml/2006/main">
              <a:ext uri="{FF2B5EF4-FFF2-40B4-BE49-F238E27FC236}">
                <a16:creationId xmlns:a16="http://schemas.microsoft.com/office/drawing/2014/main" id="{CDD841C4-AF20-480D-B028-D31CFA57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145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2  Poor conditioning</a:t>
            </a:r>
          </a:p>
        </p:txBody>
      </p:sp>
      <p:sp>
        <p:nvSpPr>
          <p:cNvPr id="9" name="mechanism-2-body">
            <a:extLst xmlns:a="http://schemas.openxmlformats.org/drawingml/2006/main">
              <a:ext uri="{FF2B5EF4-FFF2-40B4-BE49-F238E27FC236}">
                <a16:creationId xmlns:a16="http://schemas.microsoft.com/office/drawing/2014/main" id="{6224EEA1-F405-4622-A79D-8EF7D3EE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336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If those visited-firm vectors are nearly redundant, the local Gram matrix is almost singular. Its condition number measures noise amplification: larger means less independent information.</a:t>
            </a:r>
          </a:p>
        </p:txBody>
      </p:sp>
      <p:sp>
        <p:nvSpPr>
          <p:cNvPr id="10" name="mechanism-rule-2">
            <a:extLst xmlns:a="http://schemas.openxmlformats.org/drawingml/2006/main">
              <a:ext uri="{FF2B5EF4-FFF2-40B4-BE49-F238E27FC236}">
                <a16:creationId xmlns:a16="http://schemas.microsoft.com/office/drawing/2014/main" id="{0E68A56F-4C32-4A09-A7F5-0B891179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57400"/>
            <a:ext cx="95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chanism-3-head">
            <a:extLst xmlns:a="http://schemas.openxmlformats.org/drawingml/2006/main">
              <a:ext uri="{FF2B5EF4-FFF2-40B4-BE49-F238E27FC236}">
                <a16:creationId xmlns:a16="http://schemas.microsoft.com/office/drawing/2014/main" id="{9BFA0E99-3357-4562-8EE0-59861CD2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145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3  Extreme completion</a:t>
            </a:r>
          </a:p>
        </p:txBody>
      </p:sp>
      <p:sp>
        <p:nvSpPr>
          <p:cNvPr id="12" name="mechanism-3-body">
            <a:extLst xmlns:a="http://schemas.openxmlformats.org/drawingml/2006/main">
              <a:ext uri="{FF2B5EF4-FFF2-40B4-BE49-F238E27FC236}">
                <a16:creationId xmlns:a16="http://schemas.microsoft.com/office/drawing/2014/main" id="{3391244E-3386-4267-AD9E-33813B2B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3365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Small match-mean noise can then create huge u_i or v_j estimates. Those factors extrapolate to unobserved worker-firm pairs and can explode the plug-in functionals.</a:t>
            </a:r>
          </a:p>
        </p:txBody>
      </p:sp>
      <p:sp>
        <p:nvSpPr>
          <p:cNvPr id="13" name="evidence-rule">
            <a:extLst xmlns:a="http://schemas.openxmlformats.org/drawingml/2006/main">
              <a:ext uri="{FF2B5EF4-FFF2-40B4-BE49-F238E27FC236}">
                <a16:creationId xmlns:a16="http://schemas.microsoft.com/office/drawing/2014/main" id="{5E4A9DEE-2022-4A75-916D-F254C757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vidence-head">
            <a:extLst xmlns:a="http://schemas.openxmlformats.org/drawingml/2006/main">
              <a:ext uri="{FF2B5EF4-FFF2-40B4-BE49-F238E27FC236}">
                <a16:creationId xmlns:a16="http://schemas.microsoft.com/office/drawing/2014/main" id="{2E2FCE46-0A44-4506-8332-CB7A4BA2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Low-rank DGP evidence: medians across replications</a:t>
            </a:r>
          </a:p>
        </p:txBody>
      </p:sp>
      <p:sp>
        <p:nvSpPr>
          <p:cNvPr id="15" name="evidence-pass">
            <a:extLst xmlns:a="http://schemas.openxmlformats.org/drawingml/2006/main">
              <a:ext uri="{FF2B5EF4-FFF2-40B4-BE49-F238E27FC236}">
                <a16:creationId xmlns:a16="http://schemas.microsoft.com/office/drawing/2014/main" id="{BEB51990-BC2B-46DB-BC14-AE7FFB29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910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Diagnostic pass (93): worst local condition number 42; maximum factor norm 4.32.</a:t>
            </a:r>
          </a:p>
        </p:txBody>
      </p:sp>
      <p:sp>
        <p:nvSpPr>
          <p:cNvPr id="16" name="evidence-warning">
            <a:extLst xmlns:a="http://schemas.openxmlformats.org/drawingml/2006/main">
              <a:ext uri="{FF2B5EF4-FFF2-40B4-BE49-F238E27FC236}">
                <a16:creationId xmlns:a16="http://schemas.microsoft.com/office/drawing/2014/main" id="{D7E69179-3E07-4D43-9FAB-32EF4063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528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Warning (7): worst local condition number 84,006; maximum factor norm 184.9.</a:t>
            </a:r>
          </a:p>
        </p:txBody>
      </p:sp>
      <p:sp>
        <p:nvSpPr>
          <p:cNvPr id="17" name="evidence-interpretation">
            <a:extLst xmlns:a="http://schemas.openxmlformats.org/drawingml/2006/main">
              <a:ext uri="{FF2B5EF4-FFF2-40B4-BE49-F238E27FC236}">
                <a16:creationId xmlns:a16="http://schemas.microsoft.com/office/drawing/2014/main" id="{C79540EF-83B8-4827-95F6-C72F2DF2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42 versus 84,006 compares two groups of replications. It is not a before/after path, and the condition number itself is not the warning rule.</a:t>
            </a:r>
          </a:p>
        </p:txBody>
      </p:sp>
      <p:sp>
        <p:nvSpPr>
          <p:cNvPr id="18" name="mechanism-takeaway-band">
            <a:extLst xmlns:a="http://schemas.openxmlformats.org/drawingml/2006/main">
              <a:ext uri="{FF2B5EF4-FFF2-40B4-BE49-F238E27FC236}">
                <a16:creationId xmlns:a16="http://schemas.microsoft.com/office/drawing/2014/main" id="{E166A4FB-2389-43C3-8AA8-D314A3C5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76900"/>
            <a:ext cx="1095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echanism-takeaway">
            <a:extLst xmlns:a="http://schemas.openxmlformats.org/drawingml/2006/main">
              <a:ext uri="{FF2B5EF4-FFF2-40B4-BE49-F238E27FC236}">
                <a16:creationId xmlns:a16="http://schemas.microsoft.com/office/drawing/2014/main" id="{B0976AC9-983A-4DE6-9089-CB1F4A2E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97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Takeaway: cross-start disagreement is the warning; poor conditioning is the mechanism that can produce that disagreement and the extreme RMSE tail.</a:t>
            </a:r>
          </a:p>
        </p:txBody>
      </p:sp>
      <p:sp>
        <p:nvSpPr>
          <p:cNvPr id="20" name="slide-6-footer-label">
            <a:extLst xmlns:a="http://schemas.openxmlformats.org/drawingml/2006/main">
              <a:ext uri="{FF2B5EF4-FFF2-40B4-BE49-F238E27FC236}">
                <a16:creationId xmlns:a16="http://schemas.microsoft.com/office/drawing/2014/main" id="{1029683D-180B-4889-BC71-CB11D923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LOO simulation · visual summary</a:t>
            </a:r>
          </a:p>
        </p:txBody>
      </p:sp>
      <p:sp>
        <p:nvSpPr>
          <p:cNvPr id="21" name="slide-6-footer-number">
            <a:extLst xmlns:a="http://schemas.openxmlformats.org/drawingml/2006/main">
              <a:ext uri="{FF2B5EF4-FFF2-40B4-BE49-F238E27FC236}">
                <a16:creationId xmlns:a16="http://schemas.microsoft.com/office/drawing/2014/main" id="{0EA3258A-89AE-4C20-A800-FE31A8DD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938731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8F597DE6-E081-4056-B80C-235AB937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this target-gap figure uses KSS and BS20</a:t>
            </a:r>
          </a:p>
        </p:txBody>
      </p:sp>
      <p:sp>
        <p:nvSpPr>
          <p:cNvPr id="2" name="slide-7-title-rule">
            <a:extLst xmlns:a="http://schemas.openxmlformats.org/drawingml/2006/main">
              <a:ext uri="{FF2B5EF4-FFF2-40B4-BE49-F238E27FC236}">
                <a16:creationId xmlns:a16="http://schemas.microsoft.com/office/drawing/2014/main" id="{D04EEC92-85C3-4C29-99B5-5C03D593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8bd3527ec40fc"/>
          <a:stretch xmlns:a="http://schemas.openxmlformats.org/drawingml/2006/main"/>
        </p:blipFill>
        <p:spPr>
          <a:xfrm xmlns:a="http://schemas.openxmlformats.org/drawingml/2006/main">
            <a:off x="171450" y="1638352"/>
            <a:ext cx="8001000" cy="3886096"/>
          </a:xfrm>
          <a:prstGeom xmlns:a="http://schemas.openxmlformats.org/drawingml/2006/main" prst="rect">
            <a:avLst/>
          </a:prstGeom>
        </p:spPr>
      </p:pic>
      <p:sp>
        <p:nvSpPr>
          <p:cNvPr id="4" name="gap-why-head">
            <a:extLst xmlns:a="http://schemas.openxmlformats.org/drawingml/2006/main">
              <a:ext uri="{FF2B5EF4-FFF2-40B4-BE49-F238E27FC236}">
                <a16:creationId xmlns:a16="http://schemas.microsoft.com/office/drawing/2014/main" id="{EF8A7DD1-BA38-4C74-B381-E65B1633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00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these procedures?</a:t>
            </a:r>
          </a:p>
        </p:txBody>
      </p:sp>
      <p:sp>
        <p:nvSpPr>
          <p:cNvPr id="5" name="gap-why-body">
            <a:extLst xmlns:a="http://schemas.openxmlformats.org/drawingml/2006/main">
              <a:ext uri="{FF2B5EF4-FFF2-40B4-BE49-F238E27FC236}">
                <a16:creationId xmlns:a16="http://schemas.microsoft.com/office/drawing/2014/main" id="{DD6ECE59-DF35-4ED4-A9C1-8F6F20B4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71625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KSS and BS20 return native objects whose names resemble project objects, creating a real risk of silently treating unlike estimands as the same.</a:t>
            </a:r>
          </a:p>
        </p:txBody>
      </p:sp>
      <p:sp>
        <p:nvSpPr>
          <p:cNvPr id="6" name="gap-rule-1">
            <a:extLst xmlns:a="http://schemas.openxmlformats.org/drawingml/2006/main">
              <a:ext uri="{FF2B5EF4-FFF2-40B4-BE49-F238E27FC236}">
                <a16:creationId xmlns:a16="http://schemas.microsoft.com/office/drawing/2014/main" id="{93A27F04-4AD3-4209-9CDA-989AE5DE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ap-three-head">
            <a:extLst xmlns:a="http://schemas.openxmlformats.org/drawingml/2006/main">
              <a:ext uri="{FF2B5EF4-FFF2-40B4-BE49-F238E27FC236}">
                <a16:creationId xmlns:a16="http://schemas.microsoft.com/office/drawing/2014/main" id="{14802E61-E478-4868-9A4C-A4ADB1BD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only three gaps?</a:t>
            </a:r>
          </a:p>
        </p:txBody>
      </p:sp>
      <p:sp>
        <p:nvSpPr>
          <p:cNvPr id="8" name="gap-three-body">
            <a:extLst xmlns:a="http://schemas.openxmlformats.org/drawingml/2006/main">
              <a:ext uri="{FF2B5EF4-FFF2-40B4-BE49-F238E27FC236}">
                <a16:creationId xmlns:a16="http://schemas.microsoft.com/office/drawing/2014/main" id="{AE6FBFBA-7444-40DB-807F-468506AF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They are the defensible like-units comparisons: firm variance V_psi^AKM - Q_F, additive covariance C_psialpha^AKM - C^w_assign, and BS20 covariance C_BS - C^w_assign.</a:t>
            </a:r>
          </a:p>
        </p:txBody>
      </p:sp>
      <p:sp>
        <p:nvSpPr>
          <p:cNvPr id="9" name="gap-rule-2">
            <a:extLst xmlns:a="http://schemas.openxmlformats.org/drawingml/2006/main">
              <a:ext uri="{FF2B5EF4-FFF2-40B4-BE49-F238E27FC236}">
                <a16:creationId xmlns:a16="http://schemas.microsoft.com/office/drawing/2014/main" id="{6D3A4B6D-754D-425D-A292-5D2FB9B6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148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ap-omit-head">
            <a:extLst xmlns:a="http://schemas.openxmlformats.org/drawingml/2006/main">
              <a:ext uri="{FF2B5EF4-FFF2-40B4-BE49-F238E27FC236}">
                <a16:creationId xmlns:a16="http://schemas.microsoft.com/office/drawing/2014/main" id="{42D938DB-7283-48F7-99EE-ABB8A8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86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is omitted on purpose?</a:t>
            </a:r>
          </a:p>
        </p:txBody>
      </p:sp>
      <p:sp>
        <p:nvSpPr>
          <p:cNvPr id="11" name="gap-omit-body">
            <a:extLst xmlns:a="http://schemas.openxmlformats.org/drawingml/2006/main">
              <a:ext uri="{FF2B5EF4-FFF2-40B4-BE49-F238E27FC236}">
                <a16:creationId xmlns:a16="http://schemas.microsoft.com/office/drawing/2014/main" id="{4FE69A69-52A4-453B-8F57-EB26DBE9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482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KSS versus H_F or rho_H is model misspecification, already shown in RMSE. rho_BS and rho_H have different constructions. BLM grouped-minus-full is approximation error, not a change of estimand.</a:t>
            </a:r>
          </a:p>
        </p:txBody>
      </p:sp>
      <p:sp>
        <p:nvSpPr>
          <p:cNvPr id="12" name="gap-takeaway">
            <a:extLst xmlns:a="http://schemas.openxmlformats.org/drawingml/2006/main">
              <a:ext uri="{FF2B5EF4-FFF2-40B4-BE49-F238E27FC236}">
                <a16:creationId xmlns:a16="http://schemas.microsoft.com/office/drawing/2014/main" id="{9B7C717F-DE5B-4D89-BEC1-B18A871B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293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Takeaway: a benchmark can estimate its native object accurately and still answer a different economic question from the project estimand.</a:t>
            </a:r>
          </a:p>
        </p:txBody>
      </p:sp>
      <p:sp>
        <p:nvSpPr>
          <p:cNvPr id="13" name="slide-7-footer-label">
            <a:extLst xmlns:a="http://schemas.openxmlformats.org/drawingml/2006/main">
              <a:ext uri="{FF2B5EF4-FFF2-40B4-BE49-F238E27FC236}">
                <a16:creationId xmlns:a16="http://schemas.microsoft.com/office/drawing/2014/main" id="{F7F3F5B6-B96A-46FA-BC8D-D0AE07D3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LOO simulation · visual summary</a:t>
            </a:r>
          </a:p>
        </p:txBody>
      </p:sp>
      <p:sp>
        <p:nvSpPr>
          <p:cNvPr id="14" name="slide-7-footer-number">
            <a:extLst xmlns:a="http://schemas.openxmlformats.org/drawingml/2006/main">
              <a:ext uri="{FF2B5EF4-FFF2-40B4-BE49-F238E27FC236}">
                <a16:creationId xmlns:a16="http://schemas.microsoft.com/office/drawing/2014/main" id="{DD690677-C7B0-4665-8E8E-616C1DF3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259183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50B066D-A063-4BA7-B1E8-618E9223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we tried - and what remains an actual experiment</a:t>
            </a:r>
          </a:p>
        </p:txBody>
      </p:sp>
      <p:sp>
        <p:nvSpPr>
          <p:cNvPr id="2" name="slide-8-title-rule">
            <a:extLst xmlns:a="http://schemas.openxmlformats.org/drawingml/2006/main">
              <a:ext uri="{FF2B5EF4-FFF2-40B4-BE49-F238E27FC236}">
                <a16:creationId xmlns:a16="http://schemas.microsoft.com/office/drawing/2014/main" id="{503FD8D1-AE8D-4069-A929-92663C78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ried-head">
            <a:extLst xmlns:a="http://schemas.openxmlformats.org/drawingml/2006/main">
              <a:ext uri="{FF2B5EF4-FFF2-40B4-BE49-F238E27FC236}">
                <a16:creationId xmlns:a16="http://schemas.microsoft.com/office/drawing/2014/main" id="{751483AE-722D-4DBC-8B2D-0D7F3A31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Already embedded in the production baseline</a:t>
            </a:r>
          </a:p>
        </p:txBody>
      </p:sp>
      <p:sp>
        <p:nvSpPr>
          <p:cNvPr id="4" name="tried-items">
            <a:extLst xmlns:a="http://schemas.openxmlformats.org/drawingml/2006/main">
              <a:ext uri="{FF2B5EF4-FFF2-40B4-BE49-F238E27FC236}">
                <a16:creationId xmlns:a16="http://schemas.microsoft.com/office/drawing/2014/main" id="{D5E63BF2-7E7D-4179-803A-CBB7B0F4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57350"/>
            <a:ext cx="5286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Recenter and SVD-normalize after every ALS iteration.</a:t>
            </a:r>
          </a:p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Require r+2 distinct partners on a common support core.</a:t>
            </a:r>
          </a:p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Use six exploratory and three confirmation starts.</a:t>
            </a:r>
          </a:p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Use 60 periods with redraw probability 0.40.</a:t>
            </a:r>
          </a:p>
        </p:txBody>
      </p:sp>
      <p:sp>
        <p:nvSpPr>
          <p:cNvPr id="5" name="tried-interpretation">
            <a:extLst xmlns:a="http://schemas.openxmlformats.org/drawingml/2006/main">
              <a:ext uri="{FF2B5EF4-FFF2-40B4-BE49-F238E27FC236}">
                <a16:creationId xmlns:a16="http://schemas.microsoft.com/office/drawing/2014/main" id="{7E6BC900-25A9-416E-9CFC-11F174C7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48050"/>
            <a:ext cx="5286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These choices turned failed preflights into a viable baseline and made nonreproducible basins visible. They were not separate estimator arms, and production still produced 61/15/7 warnings.</a:t>
            </a:r>
          </a:p>
        </p:txBody>
      </p:sp>
      <p:sp>
        <p:nvSpPr>
          <p:cNvPr id="6" name="variant-divider">
            <a:extLst xmlns:a="http://schemas.openxmlformats.org/drawingml/2006/main">
              <a:ext uri="{FF2B5EF4-FFF2-40B4-BE49-F238E27FC236}">
                <a16:creationId xmlns:a16="http://schemas.microsoft.com/office/drawing/2014/main" id="{112F17BD-BF8A-4E92-A853-B9A0FD51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181100"/>
            <a:ext cx="95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untested-head">
            <a:extLst xmlns:a="http://schemas.openxmlformats.org/drawingml/2006/main">
              <a:ext uri="{FF2B5EF4-FFF2-40B4-BE49-F238E27FC236}">
                <a16:creationId xmlns:a16="http://schemas.microsoft.com/office/drawing/2014/main" id="{08BC5EF5-DBBC-41EC-8414-D34BB7A7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181100"/>
            <a:ext cx="519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Proposed, but not yet tested</a:t>
            </a:r>
          </a:p>
        </p:txBody>
      </p:sp>
      <p:sp>
        <p:nvSpPr>
          <p:cNvPr id="8" name="untested-items">
            <a:extLst xmlns:a="http://schemas.openxmlformats.org/drawingml/2006/main">
              <a:ext uri="{FF2B5EF4-FFF2-40B4-BE49-F238E27FC236}">
                <a16:creationId xmlns:a16="http://schemas.microsoft.com/office/drawing/2014/main" id="{38CD0696-FA8D-43F3-A2DF-52FD8C14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57350"/>
            <a:ext cx="51911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Ridge/Tikhonov local factor regressions.</a:t>
            </a:r>
          </a:p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A pre-declared penalty or pooling rule triggered by weak local information.</a:t>
            </a:r>
          </a:p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Direct estimation of Q_F, H_F, and C^w_assign without completing every pair.</a:t>
            </a:r>
          </a:p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The proposal's full leave-worker-out correction.</a:t>
            </a:r>
          </a:p>
        </p:txBody>
      </p:sp>
      <p:sp>
        <p:nvSpPr>
          <p:cNvPr id="9" name="conditioning-definition">
            <a:extLst xmlns:a="http://schemas.openxmlformats.org/drawingml/2006/main">
              <a:ext uri="{FF2B5EF4-FFF2-40B4-BE49-F238E27FC236}">
                <a16:creationId xmlns:a16="http://schemas.microsoft.com/office/drawing/2014/main" id="{495190A5-7D55-4C11-A9EE-598AF7D0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62350"/>
            <a:ext cx="5191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'Make conditioning part of the estimator' means: inspect the local Gram spectrum before each update and apply a declared ridge or pooling rule when it is weak. That changes every returned estimate by design; it is not post-hoc removal of warnings.</a:t>
            </a:r>
          </a:p>
        </p:txBody>
      </p:sp>
      <p:sp>
        <p:nvSpPr>
          <p:cNvPr id="10" name="next-experiment-band">
            <a:extLst xmlns:a="http://schemas.openxmlformats.org/drawingml/2006/main">
              <a:ext uri="{FF2B5EF4-FFF2-40B4-BE49-F238E27FC236}">
                <a16:creationId xmlns:a16="http://schemas.microsoft.com/office/drawing/2014/main" id="{3CE281FA-BA93-419C-8FC1-E06D49BC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29200"/>
            <a:ext cx="11096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ext-experiment-head">
            <a:extLst xmlns:a="http://schemas.openxmlformats.org/drawingml/2006/main">
              <a:ext uri="{FF2B5EF4-FFF2-40B4-BE49-F238E27FC236}">
                <a16:creationId xmlns:a16="http://schemas.microsoft.com/office/drawing/2014/main" id="{3E88652F-B078-4B9B-A7C9-687E3D5B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next controlled experiment</a:t>
            </a:r>
          </a:p>
        </p:txBody>
      </p:sp>
      <p:sp>
        <p:nvSpPr>
          <p:cNvPr id="12" name="next-experiment-body">
            <a:extLst xmlns:a="http://schemas.openxmlformats.org/drawingml/2006/main">
              <a:ext uri="{FF2B5EF4-FFF2-40B4-BE49-F238E27FC236}">
                <a16:creationId xmlns:a16="http://schemas.microsoft.com/office/drawing/2014/main" id="{EC116C61-74A6-4A93-99A1-9F7E0F0F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81600"/>
            <a:ext cx="762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Hold the DGP draws and seeds fixed; compare the current baseline with declared regularized variants on unconditional RMSE, bias, and warning rate. Until that is run, there is no evidence that the proposed variants improve efficacy.</a:t>
            </a:r>
          </a:p>
        </p:txBody>
      </p:sp>
      <p:sp>
        <p:nvSpPr>
          <p:cNvPr id="13" name="slide-8-footer-label">
            <a:extLst xmlns:a="http://schemas.openxmlformats.org/drawingml/2006/main">
              <a:ext uri="{FF2B5EF4-FFF2-40B4-BE49-F238E27FC236}">
                <a16:creationId xmlns:a16="http://schemas.microsoft.com/office/drawing/2014/main" id="{160DE013-ADC3-452C-BF95-6D7E8468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LOO simulation · visual summary</a:t>
            </a:r>
          </a:p>
        </p:txBody>
      </p:sp>
      <p:sp>
        <p:nvSpPr>
          <p:cNvPr id="14" name="slide-8-footer-number">
            <a:extLst xmlns:a="http://schemas.openxmlformats.org/drawingml/2006/main">
              <a:ext uri="{FF2B5EF4-FFF2-40B4-BE49-F238E27FC236}">
                <a16:creationId xmlns:a16="http://schemas.microsoft.com/office/drawing/2014/main" id="{4D5615B3-76A3-4B17-B7D9-38589BA2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8257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2026-08-14T20:04:31.5640000Z</dcterms:created>
  <dcterms:modified xsi:type="dcterms:W3CDTF">2026-08-14T20:04:31.5640000Z</dcterms:modified>
</coreProperties>
</file>