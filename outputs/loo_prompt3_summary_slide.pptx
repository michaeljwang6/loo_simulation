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a2014baece4ff4" /><Relationship Type="http://schemas.openxmlformats.org/officeDocument/2006/relationships/extended-properties" Target="/docProps/app.xml" Id="Ra48f2a721034487c" /><Relationship Type="http://schemas.openxmlformats.org/officeDocument/2006/relationships/officeDocument" Target="/ppt/presentation.xml" Id="R996a71fcf0d3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baf9e7ad442b2"/>
  </p:sldMasterIdLst>
  <p:notesMasterIdLst>
    <p:notesMasterId xmlns:r="http://schemas.openxmlformats.org/officeDocument/2006/relationships" r:id="R98fd6e6c884c4328"/>
  </p:notesMasterIdLst>
  <p:sldIdLst>
    <p:sldId xmlns:r="http://schemas.openxmlformats.org/officeDocument/2006/relationships" id="256" r:id="R583a707889a34b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8827541f154f61" /><Relationship Type="http://schemas.openxmlformats.org/officeDocument/2006/relationships/slideMaster" Target="/ppt/slideMasters/slideMaster1.xml" Id="Re73baf9e7ad442b2" /><Relationship Type="http://schemas.openxmlformats.org/officeDocument/2006/relationships/notesMaster" Target="/ppt/notesMasters/notesMaster1.xml" Id="R98fd6e6c884c4328" /><Relationship Type="http://schemas.openxmlformats.org/officeDocument/2006/relationships/presProps" Target="/ppt/presProps.xml" Id="Re4c56068beff46d1" /><Relationship Type="http://schemas.openxmlformats.org/officeDocument/2006/relationships/tableStyles" Target="/ppt/tableStyles.xml" Id="R4bc99db81a034333" /><Relationship Type="http://schemas.openxmlformats.org/officeDocument/2006/relationships/slide" Target="/ppt/slides/slide1.xml" Id="R583a707889a34b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aa7ab59f5a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c5125fe674993" /><Relationship Type="http://schemas.openxmlformats.org/officeDocument/2006/relationships/notesMaster" Target="/ppt/notesMasters/notesMaster1.xml" Id="Raaf565db7227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d14f0edf64c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2f286b9e384ac4" /><Relationship Type="http://schemas.openxmlformats.org/officeDocument/2006/relationships/slideLayout" Target="/ppt/slideLayouts/slideLayout1.xml" Id="Rf41eb532884447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eb532884447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28d7c747549c4" /><Relationship Type="http://schemas.openxmlformats.org/officeDocument/2006/relationships/notesSlide" Target="/ppt/notesSlides/notesSlide1.xml" Id="R665b6260988a48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350FDB1-FF55-4AE5-9409-389EC89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Firm Wage Effects Beyond Additivity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9323C8-035B-4C4E-9929-5C2E599B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Keep AKM's questions; replace scalar firm effects with invariant functionals of the pairwise wage schedule m_ij.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436311D-F83F-48F1-9C45-675CA262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04FE5668-6349-425E-B50C-DCC8B7A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Objects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EB558719-3B09-4A0A-AE25-D7A1107C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Lecture Takeaways</a:t>
            </a:r>
          </a:p>
        </p:txBody>
      </p:sp>
      <p:sp>
        <p:nvSpPr>
          <p:cNvPr id="6" name="objects-body">
            <a:extLst xmlns:a="http://schemas.openxmlformats.org/drawingml/2006/main">
              <a:ext uri="{FF2B5EF4-FFF2-40B4-BE49-F238E27FC236}">
                <a16:creationId xmlns:a16="http://schemas.microsoft.com/office/drawing/2014/main" id="{E1D0B90C-3E85-4890-97FE-E5260A2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Schedule:  m_ij = mu + a_i + b_j + h_ij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Firm dispersion:  Q_F = E_i Var_j(m_ij)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Contrast heterogeneity:  H_F = E_jk Var_i(m_ik - m_ij)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Assignment:  C_assign^w = 1/2[Var_obs(m) - Var_prod(m)]</a:t>
            </a:r>
          </a:p>
        </p:txBody>
      </p:sp>
      <p:sp>
        <p:nvSpPr>
          <p:cNvPr id="7" name="takeaways-body">
            <a:extLst xmlns:a="http://schemas.openxmlformats.org/drawingml/2006/main">
              <a:ext uri="{FF2B5EF4-FFF2-40B4-BE49-F238E27FC236}">
                <a16:creationId xmlns:a16="http://schemas.microsoft.com/office/drawing/2014/main" id="{B0EEBC78-0C13-4438-B4D5-7A2B5E1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4953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AKM reduction:  (Q_F, H_F, C_assign^w) = (Var(psi_j), 0, Cov(alpha_i, psi_j))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Key identity:  Q_F = Var(b_j) + 1/2 H_F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Assignment beyond AKM: common assortativity + worker-interaction + firm-interaction + concentration</a:t>
            </a:r>
          </a:p>
        </p:txBody>
      </p:sp>
      <p:sp>
        <p:nvSpPr>
          <p:cNvPr id="8" name="middle-rule">
            <a:extLst xmlns:a="http://schemas.openxmlformats.org/drawingml/2006/main">
              <a:ext uri="{FF2B5EF4-FFF2-40B4-BE49-F238E27FC236}">
                <a16:creationId xmlns:a16="http://schemas.microsoft.com/office/drawing/2014/main" id="{D94B5AF6-1179-4F00-B925-136AD2B4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board-flow-heading">
            <a:extLst xmlns:a="http://schemas.openxmlformats.org/drawingml/2006/main">
              <a:ext uri="{FF2B5EF4-FFF2-40B4-BE49-F238E27FC236}">
                <a16:creationId xmlns:a16="http://schemas.microsoft.com/office/drawing/2014/main" id="{255CDBBD-3066-499B-B4F1-9055E8D2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Board Flow</a:t>
            </a:r>
          </a:p>
        </p:txBody>
      </p:sp>
      <p:sp>
        <p:nvSpPr>
          <p:cNvPr id="10" name="board-flow">
            <a:extLst xmlns:a="http://schemas.openxmlformats.org/drawingml/2006/main">
              <a:ext uri="{FF2B5EF4-FFF2-40B4-BE49-F238E27FC236}">
                <a16:creationId xmlns:a16="http://schemas.microsoft.com/office/drawing/2014/main" id="{EF46AFAC-326F-449C-90B9-14DBE874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Decomposition -&gt; Proposition 2 -&gt; Proposition 3 -&gt; sparse-graph nonidentification -&gt; low-rank completion and leave-out inference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7A75471-923F-4CC6-AA60-C11F880C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Interpretation boundary: wage schedule first; causal effects, surplus, and welfare require extra assumptions.</a:t>
            </a:r>
          </a:p>
        </p:txBody>
      </p:sp>
    </p:spTree>
    <p:extLst>
      <p:ext uri="{BB962C8B-B14F-4D97-AF65-F5344CB8AC3E}">
        <p14:creationId xmlns:p14="http://schemas.microsoft.com/office/powerpoint/2010/main" val="1233574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2026-07-22T06:25:06.1140000Z</dcterms:created>
  <dcterms:modified xsi:type="dcterms:W3CDTF">2026-07-22T06:25:06.1150000Z</dcterms:modified>
</coreProperties>
</file>