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76fd7bb32c4e4c" /><Relationship Type="http://schemas.openxmlformats.org/officeDocument/2006/relationships/extended-properties" Target="/docProps/app.xml" Id="R36e318ef779a4ce9" /><Relationship Type="http://schemas.openxmlformats.org/officeDocument/2006/relationships/officeDocument" Target="/ppt/presentation.xml" Id="Rfd7a450213c242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294fee43549f4"/>
  </p:sldMasterIdLst>
  <p:notesMasterIdLst>
    <p:notesMasterId xmlns:r="http://schemas.openxmlformats.org/officeDocument/2006/relationships" r:id="R46d8f6bd6b214e53"/>
  </p:notesMasterIdLst>
  <p:sldIdLst>
    <p:sldId xmlns:r="http://schemas.openxmlformats.org/officeDocument/2006/relationships" id="256" r:id="R9b36adb3a69243f5"/>
    <p:sldId xmlns:r="http://schemas.openxmlformats.org/officeDocument/2006/relationships" id="257" r:id="R2345a8334ab342c8"/>
    <p:sldId xmlns:r="http://schemas.openxmlformats.org/officeDocument/2006/relationships" id="258" r:id="Rda768b3b4f134341"/>
    <p:sldId xmlns:r="http://schemas.openxmlformats.org/officeDocument/2006/relationships" id="259" r:id="R733053a70442471f"/>
    <p:sldId xmlns:r="http://schemas.openxmlformats.org/officeDocument/2006/relationships" id="260" r:id="Re6855aecdc9446d9"/>
    <p:sldId xmlns:r="http://schemas.openxmlformats.org/officeDocument/2006/relationships" id="261" r:id="Rd3d7552945654cd3"/>
    <p:sldId xmlns:r="http://schemas.openxmlformats.org/officeDocument/2006/relationships" id="262" r:id="R399c2e4ca6a54b1e"/>
    <p:sldId xmlns:r="http://schemas.openxmlformats.org/officeDocument/2006/relationships" id="263" r:id="R1fd817b8f2ab43ae"/>
    <p:sldId xmlns:r="http://schemas.openxmlformats.org/officeDocument/2006/relationships" id="264" r:id="R1718583c73064aeb"/>
    <p:sldId xmlns:r="http://schemas.openxmlformats.org/officeDocument/2006/relationships" id="265" r:id="Rbb22a61255cb44b1"/>
    <p:sldId xmlns:r="http://schemas.openxmlformats.org/officeDocument/2006/relationships" id="266" r:id="R6c96d7deeaad4715"/>
    <p:sldId xmlns:r="http://schemas.openxmlformats.org/officeDocument/2006/relationships" id="267" r:id="R6419dd1157674b09"/>
    <p:sldId xmlns:r="http://schemas.openxmlformats.org/officeDocument/2006/relationships" id="268" r:id="Rf21b039105b54eae"/>
    <p:sldId xmlns:r="http://schemas.openxmlformats.org/officeDocument/2006/relationships" id="269" r:id="R81b7c256878f487c"/>
    <p:sldId xmlns:r="http://schemas.openxmlformats.org/officeDocument/2006/relationships" id="270" r:id="R2939f09ba9a445ab"/>
    <p:sldId xmlns:r="http://schemas.openxmlformats.org/officeDocument/2006/relationships" id="271" r:id="Rc3ba2394069e4110"/>
    <p:sldId xmlns:r="http://schemas.openxmlformats.org/officeDocument/2006/relationships" id="272" r:id="Ra169f0628522403b"/>
    <p:sldId xmlns:r="http://schemas.openxmlformats.org/officeDocument/2006/relationships" id="273" r:id="R00cc5fa9e5d94291"/>
    <p:sldId xmlns:r="http://schemas.openxmlformats.org/officeDocument/2006/relationships" id="274" r:id="R6905c27df6864b51"/>
    <p:sldId xmlns:r="http://schemas.openxmlformats.org/officeDocument/2006/relationships" id="275" r:id="R3c0685152406484c"/>
    <p:sldId xmlns:r="http://schemas.openxmlformats.org/officeDocument/2006/relationships" id="276" r:id="Rcabf037670e74b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5a7f6590d4c2b" /><Relationship Type="http://schemas.openxmlformats.org/officeDocument/2006/relationships/slideMaster" Target="/ppt/slideMasters/slideMaster1.xml" Id="R11f294fee43549f4" /><Relationship Type="http://schemas.openxmlformats.org/officeDocument/2006/relationships/notesMaster" Target="/ppt/notesMasters/notesMaster1.xml" Id="R46d8f6bd6b214e53" /><Relationship Type="http://schemas.openxmlformats.org/officeDocument/2006/relationships/presProps" Target="/ppt/presProps.xml" Id="Rab847b565acc4e08" /><Relationship Type="http://schemas.openxmlformats.org/officeDocument/2006/relationships/tableStyles" Target="/ppt/tableStyles.xml" Id="Rf6f3bbc00cda4842" /><Relationship Type="http://schemas.openxmlformats.org/officeDocument/2006/relationships/slide" Target="/ppt/slides/slide1.xml" Id="R9b36adb3a69243f5" /><Relationship Type="http://schemas.openxmlformats.org/officeDocument/2006/relationships/slide" Target="/ppt/slides/slide2.xml" Id="R2345a8334ab342c8" /><Relationship Type="http://schemas.openxmlformats.org/officeDocument/2006/relationships/slide" Target="/ppt/slides/slide3.xml" Id="Rda768b3b4f134341" /><Relationship Type="http://schemas.openxmlformats.org/officeDocument/2006/relationships/slide" Target="/ppt/slides/slide4.xml" Id="R733053a70442471f" /><Relationship Type="http://schemas.openxmlformats.org/officeDocument/2006/relationships/slide" Target="/ppt/slides/slide5.xml" Id="Re6855aecdc9446d9" /><Relationship Type="http://schemas.openxmlformats.org/officeDocument/2006/relationships/slide" Target="/ppt/slides/slide6.xml" Id="Rd3d7552945654cd3" /><Relationship Type="http://schemas.openxmlformats.org/officeDocument/2006/relationships/slide" Target="/ppt/slides/slide7.xml" Id="R399c2e4ca6a54b1e" /><Relationship Type="http://schemas.openxmlformats.org/officeDocument/2006/relationships/slide" Target="/ppt/slides/slide8.xml" Id="R1fd817b8f2ab43ae" /><Relationship Type="http://schemas.openxmlformats.org/officeDocument/2006/relationships/slide" Target="/ppt/slides/slide9.xml" Id="R1718583c73064aeb" /><Relationship Type="http://schemas.openxmlformats.org/officeDocument/2006/relationships/slide" Target="/ppt/slides/slide10.xml" Id="Rbb22a61255cb44b1" /><Relationship Type="http://schemas.openxmlformats.org/officeDocument/2006/relationships/slide" Target="/ppt/slides/slide11.xml" Id="R6c96d7deeaad4715" /><Relationship Type="http://schemas.openxmlformats.org/officeDocument/2006/relationships/slide" Target="/ppt/slides/slide12.xml" Id="R6419dd1157674b09" /><Relationship Type="http://schemas.openxmlformats.org/officeDocument/2006/relationships/slide" Target="/ppt/slides/slide13.xml" Id="Rf21b039105b54eae" /><Relationship Type="http://schemas.openxmlformats.org/officeDocument/2006/relationships/slide" Target="/ppt/slides/slide14.xml" Id="R81b7c256878f487c" /><Relationship Type="http://schemas.openxmlformats.org/officeDocument/2006/relationships/slide" Target="/ppt/slides/slide15.xml" Id="R2939f09ba9a445ab" /><Relationship Type="http://schemas.openxmlformats.org/officeDocument/2006/relationships/slide" Target="/ppt/slides/slide16.xml" Id="Rc3ba2394069e4110" /><Relationship Type="http://schemas.openxmlformats.org/officeDocument/2006/relationships/slide" Target="/ppt/slides/slide17.xml" Id="Ra169f0628522403b" /><Relationship Type="http://schemas.openxmlformats.org/officeDocument/2006/relationships/slide" Target="/ppt/slides/slide18.xml" Id="R00cc5fa9e5d94291" /><Relationship Type="http://schemas.openxmlformats.org/officeDocument/2006/relationships/slide" Target="/ppt/slides/slide19.xml" Id="R6905c27df6864b51" /><Relationship Type="http://schemas.openxmlformats.org/officeDocument/2006/relationships/slide" Target="/ppt/slides/slide20.xml" Id="R3c0685152406484c" /><Relationship Type="http://schemas.openxmlformats.org/officeDocument/2006/relationships/slide" Target="/ppt/slides/slide21.xml" Id="Rcabf037670e7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7309551af145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2a291762b4658" /><Relationship Type="http://schemas.openxmlformats.org/officeDocument/2006/relationships/notesMaster" Target="/ppt/notesMasters/notesMaster1.xml" Id="R479d93d04e6649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c47340a5234b5d" /><Relationship Type="http://schemas.openxmlformats.org/officeDocument/2006/relationships/notesMaster" Target="/ppt/notesMasters/notesMaster1.xml" Id="Raedb276a137841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20f30499b54efa" /><Relationship Type="http://schemas.openxmlformats.org/officeDocument/2006/relationships/notesMaster" Target="/ppt/notesMasters/notesMaster1.xml" Id="R98828fd5897e47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1ed41db2044b72" /><Relationship Type="http://schemas.openxmlformats.org/officeDocument/2006/relationships/notesMaster" Target="/ppt/notesMasters/notesMaster1.xml" Id="Rb045992d05a74d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3ea0240d3f4e02" /><Relationship Type="http://schemas.openxmlformats.org/officeDocument/2006/relationships/notesMaster" Target="/ppt/notesMasters/notesMaster1.xml" Id="Re39c43130695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aa42793549423c" /><Relationship Type="http://schemas.openxmlformats.org/officeDocument/2006/relationships/notesMaster" Target="/ppt/notesMasters/notesMaster1.xml" Id="R174f2ac918c944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6713a5cf404372" /><Relationship Type="http://schemas.openxmlformats.org/officeDocument/2006/relationships/notesMaster" Target="/ppt/notesMasters/notesMaster1.xml" Id="R30aeb10db0ed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88916d32fa40d7" /><Relationship Type="http://schemas.openxmlformats.org/officeDocument/2006/relationships/notesMaster" Target="/ppt/notesMasters/notesMaster1.xml" Id="R0f8a2bc97a5d48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dfef54050d493c" /><Relationship Type="http://schemas.openxmlformats.org/officeDocument/2006/relationships/notesMaster" Target="/ppt/notesMasters/notesMaster1.xml" Id="R1ca6e19001f548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dc0181be864ab3" /><Relationship Type="http://schemas.openxmlformats.org/officeDocument/2006/relationships/notesMaster" Target="/ppt/notesMasters/notesMaster1.xml" Id="R19a5b1503a0045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87ee5acf2e4a90" /><Relationship Type="http://schemas.openxmlformats.org/officeDocument/2006/relationships/notesMaster" Target="/ppt/notesMasters/notesMaster1.xml" Id="R5d0ee004cefe4a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3990e76f094111" /><Relationship Type="http://schemas.openxmlformats.org/officeDocument/2006/relationships/notesMaster" Target="/ppt/notesMasters/notesMaster1.xml" Id="R534bf846d8c34c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5a42a1660a4772" /><Relationship Type="http://schemas.openxmlformats.org/officeDocument/2006/relationships/notesMaster" Target="/ppt/notesMasters/notesMaster1.xml" Id="R85aed3d6954141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c1e08305644fd6" /><Relationship Type="http://schemas.openxmlformats.org/officeDocument/2006/relationships/notesMaster" Target="/ppt/notesMasters/notesMaster1.xml" Id="R678fbe2ab85741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5014c9c1794a27" /><Relationship Type="http://schemas.openxmlformats.org/officeDocument/2006/relationships/notesMaster" Target="/ppt/notesMasters/notesMaster1.xml" Id="Re85ce2e40d2040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77538dc3684ccf" /><Relationship Type="http://schemas.openxmlformats.org/officeDocument/2006/relationships/notesMaster" Target="/ppt/notesMasters/notesMaster1.xml" Id="Re6f0f586303243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7a7aeef0e04073" /><Relationship Type="http://schemas.openxmlformats.org/officeDocument/2006/relationships/notesMaster" Target="/ppt/notesMasters/notesMaster1.xml" Id="Recc01d40f93a43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66b2f08ef24bab" /><Relationship Type="http://schemas.openxmlformats.org/officeDocument/2006/relationships/notesMaster" Target="/ppt/notesMasters/notesMaster1.xml" Id="Rb9e3b63dedde45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64657226a5407f" /><Relationship Type="http://schemas.openxmlformats.org/officeDocument/2006/relationships/notesMaster" Target="/ppt/notesMasters/notesMaster1.xml" Id="Ra5b128b6176544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315b91c36f40c9" /><Relationship Type="http://schemas.openxmlformats.org/officeDocument/2006/relationships/notesMaster" Target="/ppt/notesMasters/notesMaster1.xml" Id="R1d5c8b552f2d45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710789ea2f4ba6" /><Relationship Type="http://schemas.openxmlformats.org/officeDocument/2006/relationships/notesMaster" Target="/ppt/notesMasters/notesMaster1.xml" Id="R8322dcfdd25a4b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8ccc918344b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f7f7ce25d64082" /><Relationship Type="http://schemas.openxmlformats.org/officeDocument/2006/relationships/slideLayout" Target="/ppt/slideLayouts/slideLayout1.xml" Id="R5cc5e001541b46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c5e001541b46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6893723814554" /><Relationship Type="http://schemas.openxmlformats.org/officeDocument/2006/relationships/notesSlide" Target="/ppt/notesSlides/notesSlide1.xml" Id="R223d1a8cd652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ca70f58af43ff" /><Relationship Type="http://schemas.openxmlformats.org/officeDocument/2006/relationships/notesSlide" Target="/ppt/notesSlides/notesSlide2.xml" Id="Ra0286561c230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559d800a4240" /><Relationship Type="http://schemas.openxmlformats.org/officeDocument/2006/relationships/notesSlide" Target="/ppt/notesSlides/notesSlide3.xml" Id="R03af2328b42342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ef116096d47a3" /><Relationship Type="http://schemas.openxmlformats.org/officeDocument/2006/relationships/notesSlide" Target="/ppt/notesSlides/notesSlide4.xml" Id="R0cab7bece5774b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2c572b80848ba" /><Relationship Type="http://schemas.openxmlformats.org/officeDocument/2006/relationships/notesSlide" Target="/ppt/notesSlides/notesSlide5.xml" Id="Racb5f839ba0144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b7de361d41e6" /><Relationship Type="http://schemas.openxmlformats.org/officeDocument/2006/relationships/notesSlide" Target="/ppt/notesSlides/notesSlide6.xml" Id="R54f9aad7c71f4a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e0b98692b4cc4" /><Relationship Type="http://schemas.openxmlformats.org/officeDocument/2006/relationships/notesSlide" Target="/ppt/notesSlides/notesSlide7.xml" Id="R2ef20fec59df40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fbdfb98ed4402" /><Relationship Type="http://schemas.openxmlformats.org/officeDocument/2006/relationships/notesSlide" Target="/ppt/notesSlides/notesSlide8.xml" Id="R74b63cf1e35749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db970b2da4c2b" /><Relationship Type="http://schemas.openxmlformats.org/officeDocument/2006/relationships/notesSlide" Target="/ppt/notesSlides/notesSlide9.xml" Id="R3e2e94dc0ec7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b0e84c1944b0f" /><Relationship Type="http://schemas.openxmlformats.org/officeDocument/2006/relationships/notesSlide" Target="/ppt/notesSlides/notesSlide10.xml" Id="R3a6f1d746cfe48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bbc4e8cc64ea0" /><Relationship Type="http://schemas.openxmlformats.org/officeDocument/2006/relationships/notesSlide" Target="/ppt/notesSlides/notesSlide11.xml" Id="R8b2d143d1ab04b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cabfe558b4ea4" /><Relationship Type="http://schemas.openxmlformats.org/officeDocument/2006/relationships/notesSlide" Target="/ppt/notesSlides/notesSlide12.xml" Id="R8a49e3fd372348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e3decf6f64254" /><Relationship Type="http://schemas.openxmlformats.org/officeDocument/2006/relationships/notesSlide" Target="/ppt/notesSlides/notesSlide13.xml" Id="Rcb376181433143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c9963c102430c" /><Relationship Type="http://schemas.openxmlformats.org/officeDocument/2006/relationships/notesSlide" Target="/ppt/notesSlides/notesSlide14.xml" Id="R66c003a005c24a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c2b7e0dbd4a02" /><Relationship Type="http://schemas.openxmlformats.org/officeDocument/2006/relationships/notesSlide" Target="/ppt/notesSlides/notesSlide15.xml" Id="R93cb33bf8c5042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c32f01b764ee9" /><Relationship Type="http://schemas.openxmlformats.org/officeDocument/2006/relationships/notesSlide" Target="/ppt/notesSlides/notesSlide16.xml" Id="Rff9615678a8b43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e39d137594ddd" /><Relationship Type="http://schemas.openxmlformats.org/officeDocument/2006/relationships/notesSlide" Target="/ppt/notesSlides/notesSlide17.xml" Id="R3a083270721e40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a0e0cd6d84a78" /><Relationship Type="http://schemas.openxmlformats.org/officeDocument/2006/relationships/notesSlide" Target="/ppt/notesSlides/notesSlide18.xml" Id="Ra372f0b13f50499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7cfbc82994c60" /><Relationship Type="http://schemas.openxmlformats.org/officeDocument/2006/relationships/notesSlide" Target="/ppt/notesSlides/notesSlide19.xml" Id="Rd1fb879cd7c24c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e7c3cc06471b" /><Relationship Type="http://schemas.openxmlformats.org/officeDocument/2006/relationships/notesSlide" Target="/ppt/notesSlides/notesSlide20.xml" Id="Rdc8f14ab48e549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2143ddb6c403c" /><Relationship Type="http://schemas.openxmlformats.org/officeDocument/2006/relationships/notesSlide" Target="/ppt/notesSlides/notesSlide21.xml" Id="R2bfd14fe9b2a41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0D61E-09A0-4BC7-BD52-79BBD40E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Firm Wage Effects and Assignment Beyond Additivity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754DA-7020-4CC2-93D1-AC4074DF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Technical presentation of the LOO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78BFD-8415-4CB1-8BC4-0EE45E9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Purpose: state the estimands, restrictions, identification logic, and econometric agenda. Proof details are left to the TeX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BFE19-E7DD-4591-8A68-35C38BBC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introduction; merged TeX Part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77B35-2A89-44E6-89F4-7092BF2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54260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60B6F-48C9-4AF5-A881-BB5549D8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B4F5C-7FE1-4935-8370-E96DAD4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note is not an AKM rejection exercise; it changes the estimand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37B16-5CD9-46BD-B477-4AC5814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AKM reports Var(psi_J) and Cov(alpha_I, psi_J).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Those are complete firm-side objects only under a common firm ladder: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m_ik - m_ij = psi_k - psi_j for every worker i and firm pair (j,k).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The note instead takes a pairwise wage schedule m_ij as the object.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Firm effects and assignment are then functionals T(m; P), not coefficients.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- Key discipline: define the wage schedule, the reference assignment, and the functional before estimating anything.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D9F26-20B8-4DC6-92C1-B4B61A38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6-10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006DF-3456-49AE-8267-5C0491EB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0267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BDB53-12D5-4614-A655-6C0A5E8A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OBJECTS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62EF5-EFA3-43E0-B85D-D9B57CB8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primitives separate observed support from the target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38A76-0EE4-4D11-9405-743A2FE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Data and support: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Y_it = X_it'beta + systematic wage component + error_it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G = (I,J,E), where (i,j) in E iff worker i is observed at firm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Target objects: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m_ij       maintained pairwise wage schedule on target pair set 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P_I, P_J   reference worker and firm distributions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P_IJ^obs   observed assignment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Identification question: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Observed edges reveal R_E m. Functionals using unobserved cells require either support restrictions or maintained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1EB85-AAC5-40F2-930E-6EC2EE2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9-10,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9BA60-DD65-4EE1-ABD2-C6BDD60C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2547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87F0F-BC23-4F0A-9F9F-A6C0DFFE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ESTIMANDS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C63B9-0F2C-46B6-8BFF-995E2EA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central estimands generalize the two AKM firm-side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654D7-170D-4F49-BCBF-BBE6D630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Firm wage relevance: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Q_F = E_I[ Var_J(m_IJ) ]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H_F = E_{J,K}[ Var_I(m_IK - m_IJ) 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Assignment contribution: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C_assign^w = 1/2 { Var_obs(m_IJ) - Var_prod(m_IJ)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Mean assignment into comparative advantage: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A_h = E_obs[h_IJ]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Additive AKM special case: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(Q_F, H_F, C_assign^w, A_h) = (Var(psi_J), 0, Cov(alpha_I, psi_J), 0).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9DF1C-A8EB-4201-AAE4-017CD1A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6-7, 12-17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D2A94-3EA5-44D7-ABBD-81E62553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9156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92C5D-E4D0-48B0-86C3-B11994B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B4D44-1F76-4EE0-BECE-337A5A15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canonical decomposition is a weighted projection under P_I P_J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ED78-F04C-4297-8755-86E6F96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For a declared product reference population: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m_ij = mu + a_i + b_j + h_ij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Restrictions: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E_I[a_I] = 0,  E_J[b_J] = 0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E_J[h_iJ] = 0 for each i,  E_I[h_Ij] = 0 for each 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Interpretation: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a_i is the worker average component.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b_j is the common firm component.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h_ij is the worker-specific firm component.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This is a two-way ANOVA/Hilbert-space projection, not a causal decomposition.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27D6F-A31C-4287-9D87-482C83A7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p.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2598B-46A0-4E30-BF6F-4A75EF83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8398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0A905-6AD5-4E61-80A3-52397D74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PROPOSITION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F3928-987A-44AA-B140-DE2BD95B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Proposition 1 supplies uniqueness and orthogonality for the later variance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19DAD-EFA8-4F07-AEBB-45EAF17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Statement: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The decomposition m_ij = mu + a_i + b_j + h_ij is unique under the zero-mean restrictions.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Orthogonality under P_I P_J: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&lt;a,b&gt; = 0,  &lt;a,h&gt; = 0,  &lt;b,h&gt; = 0,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and the constant is orthogonal to all mean-zero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Why this matters: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Once the schedule is projected into (a,b,h), firm dispersion and assignment can be written as variance/covariance identities with no residual cross terms under product weights.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19067-EAB1-402A-BC88-CDB71AE6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p. 11; TeX Part II, Proposition 1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F4BD2-FCE9-40A5-84BC-791A594A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17470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21B40-3346-45EF-B5C2-9B8392F5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FIRM DISPERSION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FED1D-7793-4017-A23D-4276679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Firm dispersion splits into common-firm and interaction dispersion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9E278-2D55-410E-8905-BF766B5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Definitions: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Q_h = E_{I,J}[h_IJ^2]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Proposition 2: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Q_F = Var(b_J) + Q_h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H_F = 2 Q_h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Therefore Q_F = Var(b_J) + (1/2) H_F.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Substance: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Var(b_J) is dispersion in the common firm ladder.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H_F/2 is the part of firm wage relevance due to worker-specific firm gaps.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Useful scalar: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theta_H = H_F / (2 Q_F), the share of firm relevance not captured by a common firm premium.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BBDF1-7B33-406A-8757-96AE6EF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13-14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FEA35-90D2-42E2-B374-9F69F835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62847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E6010-E38E-4271-BB4E-0A2C93A1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90BA-91ED-4AF3-972D-769FA4B1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Assignment effects have four channels once h_ij is allowed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C2288-D03F-4F7A-8C32-C63593DD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Proposition 3: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C_assign^w =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  Cov_obs(a_I,b_J)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+ Cov_obs(a_I,h_IJ)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+ Cov_obs(b_J,h_IJ)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+ 1/2 { Var_obs(h_IJ) - Var_prod(h_IJ) }.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Interpretation: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1. AKM-style sorting: high-a workers at high-b firms.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2. Worker-average wages aligned with favorable idiosyncratic firm cells.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3. Common firm ladder aligned with worker-specific advantage.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4. Observed assignment places more mass on dispersed interaction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Under h=0, only Cov_obs(a_I,b_J) remains.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3ECB1-EB61-46BD-AD60-8DDF15B0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15-17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D94D6-ACA5-48E1-B745-1FB7BBD3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799463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63745-7153-47BA-A68A-D3D875D8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E1F48-BE25-40B1-A215-25E4ED36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mean interaction assignment object isolates one clean nonadditive margin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EF71-F30E-48E0-AE2F-4152978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Because observed and product assignment preserve the same worker and firm marginals: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E_obs[m_IJ] - E_prod[m_IJ] = E_obs[h_IJ] = A_h.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Why additive terms drop out: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E_obs[a_I] = E_prod[a_I] and E_obs[b_J] = E_prod[b_J].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Interpretation: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A_h &gt; 0 means observed matches occupy wage cells with positive interaction residuals.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Caution: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A_h is a fixed-wage-schedule statement. It is not automatically welfare, production complementarity, or surplus.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1D005-D35F-4905-B5E4-8D35008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16-17, 40-41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19DE1-92C2-40EA-8E47-B6558FD7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93442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BB9A6-94A9-415B-BBAC-2E08A3DC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SPECIAL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2F554-9999-4764-BD1F-2D9F12D9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special cases clarify what low rank does and does not mean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751D0-56AD-4F74-8F5C-C84F8E75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Additive AKM: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h_ij = 0, so H_F = A_h = 0 and C_assign^w = Cov(a_I,b_J).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Centered Tukey interaction: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h_ij = beta_0 alpha_i psi_j.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Then A_h = beta_0 Cov_obs(alpha_I, psi_J).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Free-factor rank one: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h_ij = u_i v_j.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Then H_F = 2 Var(u_I) Var(v_J) and A_h = E_obs[u_I v_J].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Takeaway: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Algebraic rank one is not the same as a low-dimensional parameterization; u_i and v_j may be high-dimensional incidental objects.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832CC-310F-4E3E-AC91-4F4FC03C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17-23; Appendix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FEAEC-F1F9-451C-A353-B1BB53EC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6107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0D4CA-8BBD-4B6A-AD86-6A383BF4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NONPARAMETRIC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C01ED-142D-44E8-8D26-EE571B6C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Without structure, sparse graph support generically fails for cardinal quadratic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A3D69-3D3C-4211-A4F1-2C88C61E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Stack the full schedule as m in R^{IJ}. Let R_E select observed cells.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Missing-cell perturbations are K_E = kernel(R_E).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Linear target l'm: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identified iff l'd = 0 for every d in K_E.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Quadratic target q(m)=m'A m: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identified iff q(m+d)=q(m) for every d in K_E and every admissible 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Implication: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Connectedness is not enough. If a target depends on unobserved cell levels or contrasts, graph support and maintained structure enter the estimand.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53AFD-4807-446B-930F-462A7807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19-21; Proposition 4 and Corollary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42E83-CF8B-4D46-B255-F3268E2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48343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672EC-AD35-437A-B026-A333CF20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LOW-RANK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003FF-41E8-4BE0-93F5-42BB1315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low-rank model restricts only the interaction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D955A-6137-4E98-B9F4-F195990C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Statistical interface: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Y_ij = X_ij'beta + alpha_i + psi_j + u_i' Lambda v_j + error_ij,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rank(Lambda)=r.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Key design choice: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alpha_i and psi_j remain unrestricted. The rank restriction applies to h_ij.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Why this is the right nesting direction: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AKM is nested by setting Lambda=0.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BLM-type grouped mean layers imply a low-rank double-demeaned interaction after lifting type cells.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Kline-style edge restrictions are diagnostics on differences, not a complete level model unless augmented.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12AAA-2255-402A-BE01-8C93AB08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21-23, 41-44; merged TeX Part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CA6CB-8B0C-415C-A8B2-375AD467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97369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6DCFE-EBAD-4EB9-A38F-267BB4C0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GRAPH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CC779-177E-4637-B60F-5830F20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Rectangles identify interaction contrasts; anchors propagate level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CC5C3-37EA-4A4A-A157-9FD4228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Four observed cells produce a double difference: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D_{ii';jk} = m_ij - m_ik - m_i'j + m_i'k.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Additive terms cancel. Under rank one: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D_{ii';jk} = (u_i - u_i') (v_j - v_k).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Identification logic: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1. Rectangles identify relative interaction contrasts.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2. Anchors fix gauge/normalization.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3. Overlapping rectangles propagate worker and firm factor information.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4. Target functionals may be identified before the entire schedule is point-identified.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This is the bipartite analogue of cycle logic, but it is not the same graph as firm-mover cycles.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05C81-1EE1-43EC-AE83-8FBE344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25-28, 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7C24F-74C5-47F1-B934-5C35DD1D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43062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DDD00-21AC-4E67-8E00-0CC790AD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FUNCTIONAL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842BE-1DB6-46F4-96F5-7ABEFCA6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Functional identification is weaker than full matrix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B8791-006B-4397-82B5-B172A93C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Let T_A(m)=m_T' A m_T be the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Full completion asks: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Is every cell m_ij on T identified?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Functional identification asks: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Can any observationally equivalent schedule inside the model change T_A?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Operational test: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local tangent directions not pinned down by support must lie in the null directions of the target operator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Substance: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The econometric object is not the factor normalization or every missing cell. It is the invariant scalar functional.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C3A45-1099-41E5-9F33-BA06466A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p. 26; TeX Part II, low-rank identification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22735-402E-43C9-9FEF-446258F6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945304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4D55-B2C1-4BDD-B031-F3B182C5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ESTIMATION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5E11-DDF6-4A9E-8C72-B62294D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Estimation targets quadratic functionals, not only fitted cell means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0475-C597-4C98-998B-89611814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Point estimation for fixed rank: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min_{alpha,psi,U,V,Lambda} sum_{(i,j) in E} n_ij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  (Ybar_ij - X_ij'beta - alpha_i - psi_j - u_i'Lambda v_j)^2.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Targets as operators: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Q_F = m' A_Q m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H_F = m' A_H m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C_assign^w = m' A_C m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A_h = d_A'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Implication: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Bias correction and inference should be target-specific. Correcting fitted cells is not the same as correcting the quadratic functional.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004EA-D96C-477C-92E6-F50F3FF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28-31; Appendix J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0206D-A290-4871-A0E1-77AF03A2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93579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68277-4F82-4835-9FDC-368D6CB0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BIAS CORRECTION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00784-037C-47EE-A912-FCAB046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plug-in bias is the nonadditive analogue of limited-mobility bias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2B9CB-332F-42D3-9087-A46E76E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Let m_hat = m + eta. For q(m)=m'A m: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q(m_hat)-q(m) = 2 m'A eta + eta'A 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Problem: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In sparse worker-firm graphs, eta includes many noisy local worker, firm, and factor estimates.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The eta'A eta term need not be asymptotically negligible.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Leave-worker-out / cavity idea: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Estimate the firm-side object without worker i, then evaluate worker i's contribution against an object less mechanically correlated with worker i's noise.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Status: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The note states the estimator agenda; the complete theorem is still the main technical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6C9B1-ED58-488D-BE69-31534349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28-34, 46-47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C586E-345E-4EA2-BF71-10039184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071099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24A1F-4F93-4CF4-B731-7BD37AF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08A24-BE40-4E7D-A656-CDCDA34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inference agenda has to track graph support, rank uncertainty, and target leverage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2FEDC-6381-47E3-9726-8BA18AAE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Asymptotic sequence: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I,J,|E| -&gt; infinity with J/I -&gt; kappa in (0,infinity).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The target is aggregate: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individual alpha_i, psi_j, u_i, v_j need not be consistently estimated.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Desired result: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T_hat_A^bc - T_A -&gt;p 0,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then a graph-aware standardization or approximation for T_hat_A^bc.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Main risk: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  high-leverage cells, weak anchors, or sparse rectangles can dominate the quadratic target even when average fit looks 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822E-5669-403E-8A2F-CE4EFCF9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31-37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63C7F-6C24-432C-B517-FE41022D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85454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B428D-AADE-42AF-95D5-0FFB2D7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MONTE CARLO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D3FDC-79A5-42DF-9C53-0EC1ACFE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Monte Carlo should be tied directly to the theorem 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2950B-F4F4-4002-9018-ADD5F1C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Design dimensions: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1. Wage schedules: additive, Tukey, free-factor rank one, higher-rank variants.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2. Assignment: independent, positive sorting on b, positive sorting on h, mixed channels.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3. Graph support: complete cells, sparse cells, weak anchors, rectangle-poor 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Reported objects: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bias and RMSE for Q_F, H_F, C_assign^w, and A_h;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coverage after leave-out correction;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sensitivity to rank misspecification and graph leverage.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Purpose: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show when the functionals are recoverable, not merely whether the low-rank model fits observed wages.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AC27C-E406-45D1-8E6A-D88F8C83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37-39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C6563-F6D1-44B3-A796-1407DEF8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11469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E8B54-4894-475D-96CF-A45B00DA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EMPIRICS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8DF36-7E58-4E89-B5A2-CAC012B9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empirical section should report decomposition objects and support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11DB3-A486-4001-9717-94A2964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Core table: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Q_F, Var(b_J), H_F/2, theta_H, C_assign^w, A_h.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Assignment table: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Cov(a,b), Cov(a,h), Cov(b,h), 1/2[Var_obs(h)-Var_prod(h)].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Support diagnostics: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observed edge density; rectangle density; anchor strength; leverage distribution;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sensitivity to reference population and rank.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Interpretation boundary: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These are maintained wage-schedule functionals. Production, surplus, bargaining, and welfare require extra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27E6D-D95B-4D1E-AFF0-3ACCC93E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39-41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42FA2-3A14-45FE-86D5-354E411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075251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9D9F4-7A1F-4569-AB82-F8974393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LITERATURE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FC62C-4897-47CC-9697-1A14DD6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The literature comparison is about restrictions on different objects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2AEF6-63C5-4798-A2E9-3B8026C8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Kline / KSS: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AKM corresponds to path-independence restrictions on directed mover edge effects.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The LOO note instead studies level functionals of a pairwise wage schedule.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BLM: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Finite worker types and firm classes imply a low-rank double-demeaned mean surface.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But full BLM includes type probabilities and wage distributions, not just the mean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Sorkin-Shimer / event studies: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Passing event-study diagnostics does not eliminate nonadditive wage levels.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Search / Roy sorting: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  Observed wages are selected matches, so wage-schedule sorting is not automatically production complementarity.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FF575-1A53-49E9-A6E5-E68406F6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pp. 41-44; merged TeX Parts I-II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E0581-90E5-43EF-9B11-AEC0AC52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040749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AA732-73CF-40FA-8EAD-02E2B39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E5DB7-9AAE-488A-804F-1449F5F7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What the note establishes as a first-paper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CD526-04BB-40F7-B67F-31CDA786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525125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1. Define nonadditive firm-wage and assignment estimands as invariant functionals of m and 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2. Decompose firm wage relevance into: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 common firm dispersion plus worker-specific firm-gap dispersion.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3. Show why unrestricted incomplete-graph identification fails for cardinal quadratic targets.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4. Propose low-rank interaction structure as a way to recover target functionals while preserving unrestricted main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5. Locate the remaining technical burden: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   graph identification, leave-out bias correction, and inference for quadratic functionals.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FE299-91DB-4B8F-B6AB-1D8F5880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Source: LOO note, teaching summary; merged TeX Part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297A4-8FAE-43B6-BD69-174580C8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3520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2026-07-22T08:23:54.0290000Z</dcterms:created>
  <dcterms:modified xsi:type="dcterms:W3CDTF">2026-07-22T08:23:54.0290000Z</dcterms:modified>
</coreProperties>
</file>