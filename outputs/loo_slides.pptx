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6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n Ray" userId="03cbf98a9aa9de2b" providerId="LiveId" clId="{36FD13AB-6ECC-4969-9F12-FE639EB3F47A}"/>
    <pc:docChg chg="modSld">
      <pc:chgData name="Zen Ray" userId="03cbf98a9aa9de2b" providerId="LiveId" clId="{36FD13AB-6ECC-4969-9F12-FE639EB3F47A}" dt="2026-07-22T15:03:28.829" v="4" actId="20577"/>
      <pc:docMkLst>
        <pc:docMk/>
      </pc:docMkLst>
      <pc:sldChg chg="modSp mod">
        <pc:chgData name="Zen Ray" userId="03cbf98a9aa9de2b" providerId="LiveId" clId="{36FD13AB-6ECC-4969-9F12-FE639EB3F47A}" dt="2026-07-22T15:03:28.829" v="4" actId="20577"/>
        <pc:sldMkLst>
          <pc:docMk/>
          <pc:sldMk cId="681382856" sldId="256"/>
        </pc:sldMkLst>
        <pc:spChg chg="mod">
          <ac:chgData name="Zen Ray" userId="03cbf98a9aa9de2b" providerId="LiveId" clId="{36FD13AB-6ECC-4969-9F12-FE639EB3F47A}" dt="2026-07-22T15:03:28.829" v="4" actId="20577"/>
          <ac:spMkLst>
            <pc:docMk/>
            <pc:sldMk cId="681382856" sldId="256"/>
            <ac:spMk id="3" creationId="{CE36AC9A-99DD-44F9-B062-40C32FD328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9C27FA7-01ED-4758-99D0-DAE5A639C761}"/>
              </a:ext>
            </a:extLst>
          </p:cNvPr>
          <p:cNvSpPr>
            <a:spLocks noGrp="1"/>
          </p:cNvSpPr>
          <p:nvPr/>
        </p:nvSpPr>
        <p:spPr>
          <a:xfrm>
            <a:off x="685800" y="1143000"/>
            <a:ext cx="10820400" cy="1143000"/>
          </a:xfrm>
          <a:prstGeom prst="rect">
            <a:avLst/>
          </a:prstGeom>
          <a:noFill/>
          <a:ln w="0">
            <a:noFill/>
            <a:prstDash val="solid"/>
          </a:ln>
        </p:spPr>
        <p:txBody>
          <a:bodyPr/>
          <a:lstStyle/>
          <a:p>
            <a:pPr algn="l">
              <a:defRPr sz="3750" b="1">
                <a:solidFill>
                  <a:srgbClr val="000000"/>
                </a:solidFill>
              </a:defRPr>
            </a:pPr>
            <a:r>
              <a:rPr sz="3750" b="1">
                <a:solidFill>
                  <a:srgbClr val="000000"/>
                </a:solidFill>
              </a:rPr>
              <a:t>Firm Wage Effects and Assignment Beyond Additivity</a:t>
            </a:r>
          </a:p>
        </p:txBody>
      </p:sp>
      <p:sp>
        <p:nvSpPr>
          <p:cNvPr id="2" name="Rectangle 1">
            <a:extLst>
              <a:ext uri="{FF2B5EF4-FFF2-40B4-BE49-F238E27FC236}">
                <a16:creationId xmlns:a16="http://schemas.microsoft.com/office/drawing/2014/main" id="{5E94386F-9CE4-410A-8765-1C1F726D4E8A}"/>
              </a:ext>
            </a:extLst>
          </p:cNvPr>
          <p:cNvSpPr>
            <a:spLocks noGrp="1"/>
          </p:cNvSpPr>
          <p:nvPr/>
        </p:nvSpPr>
        <p:spPr>
          <a:xfrm>
            <a:off x="723900" y="2571750"/>
            <a:ext cx="8572500" cy="361950"/>
          </a:xfrm>
          <a:prstGeom prst="rect">
            <a:avLst/>
          </a:prstGeom>
          <a:noFill/>
          <a:ln w="0">
            <a:noFill/>
            <a:prstDash val="solid"/>
          </a:ln>
        </p:spPr>
        <p:txBody>
          <a:bodyPr/>
          <a:lstStyle/>
          <a:p>
            <a:pPr algn="l">
              <a:defRPr sz="1950" b="0">
                <a:solidFill>
                  <a:srgbClr val="000000"/>
                </a:solidFill>
              </a:defRPr>
            </a:pPr>
            <a:r>
              <a:rPr sz="1950" b="0">
                <a:solidFill>
                  <a:srgbClr val="000000"/>
                </a:solidFill>
              </a:rPr>
              <a:t>A technical reading of the LOO note</a:t>
            </a:r>
          </a:p>
        </p:txBody>
      </p:sp>
      <p:sp>
        <p:nvSpPr>
          <p:cNvPr id="3" name="Rectangle 2">
            <a:extLst>
              <a:ext uri="{FF2B5EF4-FFF2-40B4-BE49-F238E27FC236}">
                <a16:creationId xmlns:a16="http://schemas.microsoft.com/office/drawing/2014/main" id="{CE36AC9A-99DD-44F9-B062-40C32FD328DE}"/>
              </a:ext>
            </a:extLst>
          </p:cNvPr>
          <p:cNvSpPr>
            <a:spLocks noGrp="1"/>
          </p:cNvSpPr>
          <p:nvPr/>
        </p:nvSpPr>
        <p:spPr>
          <a:xfrm>
            <a:off x="723900" y="3714750"/>
            <a:ext cx="9525000" cy="857250"/>
          </a:xfrm>
          <a:prstGeom prst="rect">
            <a:avLst/>
          </a:prstGeom>
          <a:noFill/>
          <a:ln w="0">
            <a:noFill/>
            <a:prstDash val="solid"/>
          </a:ln>
        </p:spPr>
        <p:txBody>
          <a:bodyPr/>
          <a:lstStyle/>
          <a:p>
            <a:pPr algn="l">
              <a:defRPr sz="1650" b="0">
                <a:solidFill>
                  <a:srgbClr val="000000"/>
                </a:solidFill>
              </a:defRPr>
            </a:pPr>
            <a:r>
              <a:rPr lang="en-US" sz="1650" b="0" dirty="0">
                <a:solidFill>
                  <a:srgbClr val="000000"/>
                </a:solidFill>
              </a:rPr>
              <a:t>7/22</a:t>
            </a:r>
            <a:endParaRPr sz="1650" b="0" dirty="0">
              <a:solidFill>
                <a:srgbClr val="000000"/>
              </a:solidFill>
            </a:endParaRPr>
          </a:p>
        </p:txBody>
      </p:sp>
      <p:sp>
        <p:nvSpPr>
          <p:cNvPr id="4" name="Rectangle 3">
            <a:extLst>
              <a:ext uri="{FF2B5EF4-FFF2-40B4-BE49-F238E27FC236}">
                <a16:creationId xmlns:a16="http://schemas.microsoft.com/office/drawing/2014/main" id="{09EF5E43-FA85-4409-8326-A41010CBDC1D}"/>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merged TeX Part II</a:t>
            </a:r>
          </a:p>
        </p:txBody>
      </p:sp>
      <p:sp>
        <p:nvSpPr>
          <p:cNvPr id="5" name="Rectangle 4">
            <a:extLst>
              <a:ext uri="{FF2B5EF4-FFF2-40B4-BE49-F238E27FC236}">
                <a16:creationId xmlns:a16="http://schemas.microsoft.com/office/drawing/2014/main" id="{F75585AC-F597-44DE-B556-13F7823A956B}"/>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a:t>
            </a:r>
          </a:p>
        </p:txBody>
      </p:sp>
    </p:spTree>
    <p:extLst>
      <p:ext uri="{BB962C8B-B14F-4D97-AF65-F5344CB8AC3E}">
        <p14:creationId xmlns:p14="http://schemas.microsoft.com/office/powerpoint/2010/main" val="681382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6BDB6A0-3BF9-4634-AF54-42F738A88042}"/>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 | WHY THE OBJECT MUST CHANGE</a:t>
            </a:r>
          </a:p>
        </p:txBody>
      </p:sp>
      <p:sp>
        <p:nvSpPr>
          <p:cNvPr id="2" name="Rectangle 1">
            <a:extLst>
              <a:ext uri="{FF2B5EF4-FFF2-40B4-BE49-F238E27FC236}">
                <a16:creationId xmlns:a16="http://schemas.microsoft.com/office/drawing/2014/main" id="{8BF51A5F-58DB-45D1-B3EE-E7DBE0869BEF}"/>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AKM is complete only when every worker faces the same firm ladder</a:t>
            </a:r>
          </a:p>
        </p:txBody>
      </p:sp>
      <p:pic>
        <p:nvPicPr>
          <p:cNvPr id="11" name="Picture 10"/>
          <p:cNvPicPr>
            <a:picLocks noChangeAspect="1"/>
          </p:cNvPicPr>
          <p:nvPr/>
        </p:nvPicPr>
        <p:blipFill>
          <a:blip r:embed="rId3"/>
          <a:stretch/>
        </p:blipFill>
        <p:spPr>
          <a:xfrm>
            <a:off x="2438400" y="1466850"/>
            <a:ext cx="7315200" cy="914400"/>
          </a:xfrm>
          <a:prstGeom prst="rect">
            <a:avLst/>
          </a:prstGeom>
        </p:spPr>
      </p:pic>
      <p:sp>
        <p:nvSpPr>
          <p:cNvPr id="4" name="Rectangle 3">
            <a:extLst>
              <a:ext uri="{FF2B5EF4-FFF2-40B4-BE49-F238E27FC236}">
                <a16:creationId xmlns:a16="http://schemas.microsoft.com/office/drawing/2014/main" id="{C50D339B-727A-423F-A4DE-A295FF99DC26}"/>
              </a:ext>
            </a:extLst>
          </p:cNvPr>
          <p:cNvSpPr>
            <a:spLocks noGrp="1"/>
          </p:cNvSpPr>
          <p:nvPr/>
        </p:nvSpPr>
        <p:spPr>
          <a:xfrm>
            <a:off x="819150" y="2647950"/>
            <a:ext cx="10477500" cy="2828925"/>
          </a:xfrm>
          <a:prstGeom prst="rect">
            <a:avLst/>
          </a:prstGeom>
          <a:noFill/>
          <a:ln w="0">
            <a:noFill/>
            <a:prstDash val="solid"/>
          </a:ln>
        </p:spPr>
        <p:txBody>
          <a:bodyPr/>
          <a:lstStyle/>
          <a:p>
            <a:pPr algn="l">
              <a:defRPr sz="1500" b="0">
                <a:solidFill>
                  <a:srgbClr val="000000"/>
                </a:solidFill>
              </a:defRPr>
            </a:pPr>
            <a:r>
              <a:rPr sz="1500" b="0">
                <a:solidFill>
                  <a:srgbClr val="000000"/>
                </a:solidFill>
              </a:rPr>
              <a:t>AKM summarizes the firm side with a common premium and sorting with a worker-firm covariance. The displayed restriction is exactly what makes those two objects complete: every firm comparison is invariant across workers.</a:t>
            </a:r>
          </a:p>
          <a:p>
            <a:endParaRPr sz="1500" b="0">
              <a:solidFill>
                <a:srgbClr val="000000"/>
              </a:solidFill>
            </a:endParaRPr>
          </a:p>
          <a:p>
            <a:pPr algn="l">
              <a:defRPr sz="1500" b="0">
                <a:solidFill>
                  <a:srgbClr val="000000"/>
                </a:solidFill>
              </a:defRPr>
            </a:pPr>
            <a:r>
              <a:rPr sz="1500" b="0">
                <a:solidFill>
                  <a:srgbClr val="000000"/>
                </a:solidFill>
              </a:rPr>
              <a:t>Once comparative firm advantages vary by worker, the coefficient vector is no longer the economic object. The primitive must be the full pairwise wage schedule.</a:t>
            </a:r>
          </a:p>
        </p:txBody>
      </p:sp>
      <p:sp>
        <p:nvSpPr>
          <p:cNvPr id="5" name="Rectangle 4">
            <a:extLst>
              <a:ext uri="{FF2B5EF4-FFF2-40B4-BE49-F238E27FC236}">
                <a16:creationId xmlns:a16="http://schemas.microsoft.com/office/drawing/2014/main" id="{201C9A50-E683-48E5-A279-EDF8F7EC1C59}"/>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FD828AB5-F39D-4047-96B3-AB3C31CB3B81}"/>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Therefore the analysis must first declare the wage schedule and the assignment distribution used to average it.</a:t>
            </a:r>
          </a:p>
        </p:txBody>
      </p:sp>
      <p:sp>
        <p:nvSpPr>
          <p:cNvPr id="7" name="Rectangle 6">
            <a:extLst>
              <a:ext uri="{FF2B5EF4-FFF2-40B4-BE49-F238E27FC236}">
                <a16:creationId xmlns:a16="http://schemas.microsoft.com/office/drawing/2014/main" id="{B24F8387-51EF-474C-9F7B-C44D80F6BA94}"/>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6-10</a:t>
            </a:r>
          </a:p>
        </p:txBody>
      </p:sp>
      <p:sp>
        <p:nvSpPr>
          <p:cNvPr id="8" name="Rectangle 7">
            <a:extLst>
              <a:ext uri="{FF2B5EF4-FFF2-40B4-BE49-F238E27FC236}">
                <a16:creationId xmlns:a16="http://schemas.microsoft.com/office/drawing/2014/main" id="{193ACA65-2246-42DF-A74F-FEBA3B613E1B}"/>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2</a:t>
            </a:r>
          </a:p>
        </p:txBody>
      </p:sp>
    </p:spTree>
    <p:extLst>
      <p:ext uri="{BB962C8B-B14F-4D97-AF65-F5344CB8AC3E}">
        <p14:creationId xmlns:p14="http://schemas.microsoft.com/office/powerpoint/2010/main" val="1587721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8E1CE18-E23B-46E5-B8A0-C3F634474052}"/>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2 | DECLARE THE PRIMITIVES</a:t>
            </a:r>
          </a:p>
        </p:txBody>
      </p:sp>
      <p:sp>
        <p:nvSpPr>
          <p:cNvPr id="2" name="Rectangle 1">
            <a:extLst>
              <a:ext uri="{FF2B5EF4-FFF2-40B4-BE49-F238E27FC236}">
                <a16:creationId xmlns:a16="http://schemas.microsoft.com/office/drawing/2014/main" id="{017C3096-C15D-429F-84C7-399955C9C989}"/>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Observed matches and the target wage schedule are different objects</a:t>
            </a:r>
          </a:p>
        </p:txBody>
      </p:sp>
      <p:pic>
        <p:nvPicPr>
          <p:cNvPr id="11" name="Picture 10"/>
          <p:cNvPicPr>
            <a:picLocks noChangeAspect="1"/>
          </p:cNvPicPr>
          <p:nvPr/>
        </p:nvPicPr>
        <p:blipFill>
          <a:blip r:embed="rId3"/>
          <a:stretch/>
        </p:blipFill>
        <p:spPr>
          <a:xfrm>
            <a:off x="2667000" y="1466850"/>
            <a:ext cx="6858000" cy="857250"/>
          </a:xfrm>
          <a:prstGeom prst="rect">
            <a:avLst/>
          </a:prstGeom>
        </p:spPr>
      </p:pic>
      <p:sp>
        <p:nvSpPr>
          <p:cNvPr id="4" name="Rectangle 3">
            <a:extLst>
              <a:ext uri="{FF2B5EF4-FFF2-40B4-BE49-F238E27FC236}">
                <a16:creationId xmlns:a16="http://schemas.microsoft.com/office/drawing/2014/main" id="{8D522CFF-B6E2-41C9-8E2E-96647A261CAF}"/>
              </a:ext>
            </a:extLst>
          </p:cNvPr>
          <p:cNvSpPr>
            <a:spLocks noGrp="1"/>
          </p:cNvSpPr>
          <p:nvPr/>
        </p:nvSpPr>
        <p:spPr>
          <a:xfrm>
            <a:off x="819150" y="2590800"/>
            <a:ext cx="10477500" cy="2886075"/>
          </a:xfrm>
          <a:prstGeom prst="rect">
            <a:avLst/>
          </a:prstGeom>
          <a:noFill/>
          <a:ln w="0">
            <a:noFill/>
            <a:prstDash val="solid"/>
          </a:ln>
        </p:spPr>
        <p:txBody>
          <a:bodyPr/>
          <a:lstStyle/>
          <a:p>
            <a:pPr algn="l">
              <a:defRPr sz="1500" b="0">
                <a:solidFill>
                  <a:srgbClr val="000000"/>
                </a:solidFill>
              </a:defRPr>
            </a:pPr>
            <a:r>
              <a:rPr sz="1500" b="0">
                <a:solidFill>
                  <a:srgbClr val="000000"/>
                </a:solidFill>
              </a:rPr>
              <a:t>The target schedule assigns a maintained systematic wage to worker-firm pairs in a declared target set. The observed assignment distribution places mass only on realized edges; the product distribution breaks matching while preserving worker and firm marginals.</a:t>
            </a:r>
          </a:p>
          <a:p>
            <a:endParaRPr sz="1500" b="0">
              <a:solidFill>
                <a:srgbClr val="000000"/>
              </a:solidFill>
            </a:endParaRPr>
          </a:p>
          <a:p>
            <a:pPr algn="l">
              <a:defRPr sz="1500" b="0">
                <a:solidFill>
                  <a:srgbClr val="000000"/>
                </a:solidFill>
              </a:defRPr>
            </a:pPr>
            <a:r>
              <a:rPr sz="1500" b="0">
                <a:solidFill>
                  <a:srgbClr val="000000"/>
                </a:solidFill>
              </a:rPr>
              <a:t>This distinction prevents an estimand from silently depending on missing cells or on a counterfactual assignment measure that was never stated.</a:t>
            </a:r>
          </a:p>
        </p:txBody>
      </p:sp>
      <p:sp>
        <p:nvSpPr>
          <p:cNvPr id="5" name="Rectangle 4">
            <a:extLst>
              <a:ext uri="{FF2B5EF4-FFF2-40B4-BE49-F238E27FC236}">
                <a16:creationId xmlns:a16="http://schemas.microsoft.com/office/drawing/2014/main" id="{7B5D3703-FB11-47C8-8C52-28851CAF128C}"/>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0AED527D-DBCE-4C40-B82D-A45A51A4A4DC}"/>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With the primitives fixed, the paper can ask two precise questions: how much firms matter and how assignment matters.</a:t>
            </a:r>
          </a:p>
        </p:txBody>
      </p:sp>
      <p:sp>
        <p:nvSpPr>
          <p:cNvPr id="7" name="Rectangle 6">
            <a:extLst>
              <a:ext uri="{FF2B5EF4-FFF2-40B4-BE49-F238E27FC236}">
                <a16:creationId xmlns:a16="http://schemas.microsoft.com/office/drawing/2014/main" id="{40C77D23-FF41-41EE-8E75-E379671E837D}"/>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9-10, 19</a:t>
            </a:r>
          </a:p>
        </p:txBody>
      </p:sp>
      <p:sp>
        <p:nvSpPr>
          <p:cNvPr id="8" name="Rectangle 7">
            <a:extLst>
              <a:ext uri="{FF2B5EF4-FFF2-40B4-BE49-F238E27FC236}">
                <a16:creationId xmlns:a16="http://schemas.microsoft.com/office/drawing/2014/main" id="{6D0D26CF-1183-45A7-A648-6205CED8AAC6}"/>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3</a:t>
            </a:r>
          </a:p>
        </p:txBody>
      </p:sp>
    </p:spTree>
    <p:extLst>
      <p:ext uri="{BB962C8B-B14F-4D97-AF65-F5344CB8AC3E}">
        <p14:creationId xmlns:p14="http://schemas.microsoft.com/office/powerpoint/2010/main" val="1002182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B677994-F8EF-4F63-A323-A8EAA1124578}"/>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3 | DEFINE THE FOUR TARGETS</a:t>
            </a:r>
          </a:p>
        </p:txBody>
      </p:sp>
      <p:sp>
        <p:nvSpPr>
          <p:cNvPr id="2" name="Rectangle 1">
            <a:extLst>
              <a:ext uri="{FF2B5EF4-FFF2-40B4-BE49-F238E27FC236}">
                <a16:creationId xmlns:a16="http://schemas.microsoft.com/office/drawing/2014/main" id="{4DBD01AD-17FD-40C4-8B24-35DA61B9B559}"/>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Four functionals replace the two AKM firm-side summaries</a:t>
            </a:r>
          </a:p>
        </p:txBody>
      </p:sp>
      <p:pic>
        <p:nvPicPr>
          <p:cNvPr id="11" name="Picture 10"/>
          <p:cNvPicPr>
            <a:picLocks noChangeAspect="1"/>
          </p:cNvPicPr>
          <p:nvPr/>
        </p:nvPicPr>
        <p:blipFill>
          <a:blip r:embed="rId3"/>
          <a:stretch/>
        </p:blipFill>
        <p:spPr>
          <a:xfrm>
            <a:off x="781050" y="1497806"/>
            <a:ext cx="10629900" cy="1328738"/>
          </a:xfrm>
          <a:prstGeom prst="rect">
            <a:avLst/>
          </a:prstGeom>
        </p:spPr>
      </p:pic>
      <p:sp>
        <p:nvSpPr>
          <p:cNvPr id="4" name="Rectangle 3">
            <a:extLst>
              <a:ext uri="{FF2B5EF4-FFF2-40B4-BE49-F238E27FC236}">
                <a16:creationId xmlns:a16="http://schemas.microsoft.com/office/drawing/2014/main" id="{4C745752-030B-44F9-B6DB-A15D49039DC8}"/>
              </a:ext>
            </a:extLst>
          </p:cNvPr>
          <p:cNvSpPr>
            <a:spLocks noGrp="1"/>
          </p:cNvSpPr>
          <p:nvPr/>
        </p:nvSpPr>
        <p:spPr>
          <a:xfrm>
            <a:off x="819150" y="3124200"/>
            <a:ext cx="10477500" cy="2352675"/>
          </a:xfrm>
          <a:prstGeom prst="rect">
            <a:avLst/>
          </a:prstGeom>
          <a:noFill/>
          <a:ln w="0">
            <a:noFill/>
            <a:prstDash val="solid"/>
          </a:ln>
        </p:spPr>
        <p:txBody>
          <a:bodyPr/>
          <a:lstStyle/>
          <a:p>
            <a:pPr algn="l">
              <a:defRPr sz="1425" b="0">
                <a:solidFill>
                  <a:srgbClr val="000000"/>
                </a:solidFill>
              </a:defRPr>
            </a:pPr>
            <a:r>
              <a:rPr sz="1425" b="0">
                <a:solidFill>
                  <a:srgbClr val="000000"/>
                </a:solidFill>
              </a:rPr>
              <a:t>The first pair measures firm wage relevance: average cross-firm dispersion for a worker, and heterogeneity across workers in firm wage gaps. The second pair measures assignment: the change in wage-schedule variance under observed rather than independent matching, and the mean interaction selected by observed matches.</a:t>
            </a:r>
          </a:p>
          <a:p>
            <a:endParaRPr sz="1425" b="0">
              <a:solidFill>
                <a:srgbClr val="000000"/>
              </a:solidFill>
            </a:endParaRPr>
          </a:p>
          <a:p>
            <a:pPr algn="l">
              <a:defRPr sz="1425" b="0">
                <a:solidFill>
                  <a:srgbClr val="000000"/>
                </a:solidFill>
              </a:defRPr>
            </a:pPr>
            <a:r>
              <a:rPr sz="1425" b="0">
                <a:solidFill>
                  <a:srgbClr val="000000"/>
                </a:solidFill>
              </a:rPr>
              <a:t>Under additivity, the gap-heterogeneity and mean-interaction targets vanish, while the remaining two collapse to the familiar AKM objects.</a:t>
            </a:r>
          </a:p>
        </p:txBody>
      </p:sp>
      <p:sp>
        <p:nvSpPr>
          <p:cNvPr id="5" name="Rectangle 4">
            <a:extLst>
              <a:ext uri="{FF2B5EF4-FFF2-40B4-BE49-F238E27FC236}">
                <a16:creationId xmlns:a16="http://schemas.microsoft.com/office/drawing/2014/main" id="{97951244-687C-4C48-904E-7BBA649E18ED}"/>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979A0A06-5397-44A7-9EB7-35DB7A318391}"/>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To interpret these four scalars, the schedule needs a unique common-firm component and a unique interaction component.</a:t>
            </a:r>
          </a:p>
        </p:txBody>
      </p:sp>
      <p:sp>
        <p:nvSpPr>
          <p:cNvPr id="7" name="Rectangle 6">
            <a:extLst>
              <a:ext uri="{FF2B5EF4-FFF2-40B4-BE49-F238E27FC236}">
                <a16:creationId xmlns:a16="http://schemas.microsoft.com/office/drawing/2014/main" id="{69671B11-337A-41C1-A5D9-C18FF9768B8D}"/>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6-7, 12-17</a:t>
            </a:r>
          </a:p>
        </p:txBody>
      </p:sp>
      <p:sp>
        <p:nvSpPr>
          <p:cNvPr id="8" name="Rectangle 7">
            <a:extLst>
              <a:ext uri="{FF2B5EF4-FFF2-40B4-BE49-F238E27FC236}">
                <a16:creationId xmlns:a16="http://schemas.microsoft.com/office/drawing/2014/main" id="{A3A5E1F6-C273-40F3-9C1E-3ECAAAD14F42}"/>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4</a:t>
            </a:r>
          </a:p>
        </p:txBody>
      </p:sp>
    </p:spTree>
    <p:extLst>
      <p:ext uri="{BB962C8B-B14F-4D97-AF65-F5344CB8AC3E}">
        <p14:creationId xmlns:p14="http://schemas.microsoft.com/office/powerpoint/2010/main" val="1936162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F8FF35-F34B-4343-B916-F6BCF02D4B9B}"/>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4 | PROJECT THE SCHEDULE</a:t>
            </a:r>
          </a:p>
        </p:txBody>
      </p:sp>
      <p:sp>
        <p:nvSpPr>
          <p:cNvPr id="2" name="Rectangle 1">
            <a:extLst>
              <a:ext uri="{FF2B5EF4-FFF2-40B4-BE49-F238E27FC236}">
                <a16:creationId xmlns:a16="http://schemas.microsoft.com/office/drawing/2014/main" id="{3575F883-693A-44B5-813E-4F34E27B11CB}"/>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A weighted two-way projection separates common levels from comparative advantage</a:t>
            </a:r>
          </a:p>
        </p:txBody>
      </p:sp>
      <p:pic>
        <p:nvPicPr>
          <p:cNvPr id="11" name="Picture 10"/>
          <p:cNvPicPr>
            <a:picLocks noChangeAspect="1"/>
          </p:cNvPicPr>
          <p:nvPr/>
        </p:nvPicPr>
        <p:blipFill>
          <a:blip r:embed="rId3"/>
          <a:stretch/>
        </p:blipFill>
        <p:spPr>
          <a:xfrm>
            <a:off x="990600" y="1466850"/>
            <a:ext cx="10210800" cy="1276350"/>
          </a:xfrm>
          <a:prstGeom prst="rect">
            <a:avLst/>
          </a:prstGeom>
        </p:spPr>
      </p:pic>
      <p:sp>
        <p:nvSpPr>
          <p:cNvPr id="4" name="Rectangle 3">
            <a:extLst>
              <a:ext uri="{FF2B5EF4-FFF2-40B4-BE49-F238E27FC236}">
                <a16:creationId xmlns:a16="http://schemas.microsoft.com/office/drawing/2014/main" id="{2FF4899D-1271-41F9-9B2E-EE2FF63BE8E5}"/>
              </a:ext>
            </a:extLst>
          </p:cNvPr>
          <p:cNvSpPr>
            <a:spLocks noGrp="1"/>
          </p:cNvSpPr>
          <p:nvPr/>
        </p:nvSpPr>
        <p:spPr>
          <a:xfrm>
            <a:off x="819150" y="3009900"/>
            <a:ext cx="10477500" cy="2466975"/>
          </a:xfrm>
          <a:prstGeom prst="rect">
            <a:avLst/>
          </a:prstGeom>
          <a:noFill/>
          <a:ln w="0">
            <a:noFill/>
            <a:prstDash val="solid"/>
          </a:ln>
        </p:spPr>
        <p:txBody>
          <a:bodyPr/>
          <a:lstStyle/>
          <a:p>
            <a:pPr algn="l">
              <a:defRPr sz="1425" b="0">
                <a:solidFill>
                  <a:srgbClr val="000000"/>
                </a:solidFill>
              </a:defRPr>
            </a:pPr>
            <a:r>
              <a:rPr sz="1425" b="0">
                <a:solidFill>
                  <a:srgbClr val="000000"/>
                </a:solidFill>
              </a:rPr>
              <a:t>The worker component is the worker's product-weighted average wage; the firm component is the common firm ladder; the interaction is what remains after both margins are removed. Row and column centering make this representation unique for the declared reference distributions.</a:t>
            </a:r>
          </a:p>
          <a:p>
            <a:endParaRPr sz="1425" b="0">
              <a:solidFill>
                <a:srgbClr val="000000"/>
              </a:solidFill>
            </a:endParaRPr>
          </a:p>
          <a:p>
            <a:pPr algn="l">
              <a:defRPr sz="1425" b="0">
                <a:solidFill>
                  <a:srgbClr val="000000"/>
                </a:solidFill>
              </a:defRPr>
            </a:pPr>
            <a:r>
              <a:rPr sz="1425" b="0">
                <a:solidFill>
                  <a:srgbClr val="000000"/>
                </a:solidFill>
              </a:rPr>
              <a:t>This is an accounting projection of the wage schedule. It is not yet a causal or production decomposition.</a:t>
            </a:r>
          </a:p>
        </p:txBody>
      </p:sp>
      <p:sp>
        <p:nvSpPr>
          <p:cNvPr id="5" name="Rectangle 4">
            <a:extLst>
              <a:ext uri="{FF2B5EF4-FFF2-40B4-BE49-F238E27FC236}">
                <a16:creationId xmlns:a16="http://schemas.microsoft.com/office/drawing/2014/main" id="{5D78AF69-569F-42DC-8628-EEB28598684C}"/>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0632A1E0-80F3-401C-82DD-E1891DB5AC05}"/>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 centering restrictions do more than normalize labels: they make the three nonconstant components orthogonal.</a:t>
            </a:r>
          </a:p>
        </p:txBody>
      </p:sp>
      <p:sp>
        <p:nvSpPr>
          <p:cNvPr id="7" name="Rectangle 6">
            <a:extLst>
              <a:ext uri="{FF2B5EF4-FFF2-40B4-BE49-F238E27FC236}">
                <a16:creationId xmlns:a16="http://schemas.microsoft.com/office/drawing/2014/main" id="{34D09B6E-FFDF-44D4-AFCD-E2FBE3F936C1}"/>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 11; TeX Part II, Proposition 1</a:t>
            </a:r>
          </a:p>
        </p:txBody>
      </p:sp>
      <p:sp>
        <p:nvSpPr>
          <p:cNvPr id="8" name="Rectangle 7">
            <a:extLst>
              <a:ext uri="{FF2B5EF4-FFF2-40B4-BE49-F238E27FC236}">
                <a16:creationId xmlns:a16="http://schemas.microsoft.com/office/drawing/2014/main" id="{AC8E9C7D-8709-47F9-8740-AC9D9B6216C5}"/>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5</a:t>
            </a:r>
          </a:p>
        </p:txBody>
      </p:sp>
    </p:spTree>
    <p:extLst>
      <p:ext uri="{BB962C8B-B14F-4D97-AF65-F5344CB8AC3E}">
        <p14:creationId xmlns:p14="http://schemas.microsoft.com/office/powerpoint/2010/main" val="519510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C0542A2-F66A-4508-B940-3C3C1A86112D}"/>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5 | USE PROPOSITION 1</a:t>
            </a:r>
          </a:p>
        </p:txBody>
      </p:sp>
      <p:sp>
        <p:nvSpPr>
          <p:cNvPr id="2" name="Rectangle 1">
            <a:extLst>
              <a:ext uri="{FF2B5EF4-FFF2-40B4-BE49-F238E27FC236}">
                <a16:creationId xmlns:a16="http://schemas.microsoft.com/office/drawing/2014/main" id="{6A86F1A4-F362-4D84-99BE-514BE726C3A1}"/>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Uniqueness and orthogonality remove the cross terms</a:t>
            </a:r>
          </a:p>
        </p:txBody>
      </p:sp>
      <p:pic>
        <p:nvPicPr>
          <p:cNvPr id="11" name="Picture 10"/>
          <p:cNvPicPr>
            <a:picLocks noChangeAspect="1"/>
          </p:cNvPicPr>
          <p:nvPr/>
        </p:nvPicPr>
        <p:blipFill>
          <a:blip r:embed="rId3"/>
          <a:stretch/>
        </p:blipFill>
        <p:spPr>
          <a:xfrm>
            <a:off x="2667000" y="1466850"/>
            <a:ext cx="6858000" cy="857250"/>
          </a:xfrm>
          <a:prstGeom prst="rect">
            <a:avLst/>
          </a:prstGeom>
        </p:spPr>
      </p:pic>
      <p:sp>
        <p:nvSpPr>
          <p:cNvPr id="4" name="Rectangle 3">
            <a:extLst>
              <a:ext uri="{FF2B5EF4-FFF2-40B4-BE49-F238E27FC236}">
                <a16:creationId xmlns:a16="http://schemas.microsoft.com/office/drawing/2014/main" id="{E112F926-20EC-4C10-BA63-4F712BF7A489}"/>
              </a:ext>
            </a:extLst>
          </p:cNvPr>
          <p:cNvSpPr>
            <a:spLocks noGrp="1"/>
          </p:cNvSpPr>
          <p:nvPr/>
        </p:nvSpPr>
        <p:spPr>
          <a:xfrm>
            <a:off x="819150" y="2590800"/>
            <a:ext cx="10477500" cy="2886075"/>
          </a:xfrm>
          <a:prstGeom prst="rect">
            <a:avLst/>
          </a:prstGeom>
          <a:noFill/>
          <a:ln w="0">
            <a:noFill/>
            <a:prstDash val="solid"/>
          </a:ln>
        </p:spPr>
        <p:txBody>
          <a:bodyPr/>
          <a:lstStyle/>
          <a:p>
            <a:pPr algn="l">
              <a:defRPr sz="1500" b="0">
                <a:solidFill>
                  <a:srgbClr val="000000"/>
                </a:solidFill>
              </a:defRPr>
            </a:pPr>
            <a:r>
              <a:rPr sz="1500" b="0">
                <a:solidFill>
                  <a:srgbClr val="000000"/>
                </a:solidFill>
              </a:rPr>
              <a:t>Suppose two centered decompositions represented the same schedule. Averaging their difference over firms identifies the worker component; averaging over workers identifies the firm component; subtraction then identifies the interaction. This proves uniqueness.</a:t>
            </a:r>
          </a:p>
          <a:p>
            <a:endParaRPr sz="1500" b="0">
              <a:solidFill>
                <a:srgbClr val="000000"/>
              </a:solidFill>
            </a:endParaRPr>
          </a:p>
          <a:p>
            <a:pPr algn="l">
              <a:defRPr sz="1500" b="0">
                <a:solidFill>
                  <a:srgbClr val="000000"/>
                </a:solidFill>
              </a:defRPr>
            </a:pPr>
            <a:r>
              <a:rPr sz="1500" b="0">
                <a:solidFill>
                  <a:srgbClr val="000000"/>
                </a:solidFill>
              </a:rPr>
              <a:t>The same conditional mean-zero restrictions imply the displayed inner products are zero under product weights. Every variance identity that follows uses this orthogonality.</a:t>
            </a:r>
          </a:p>
        </p:txBody>
      </p:sp>
      <p:sp>
        <p:nvSpPr>
          <p:cNvPr id="5" name="Rectangle 4">
            <a:extLst>
              <a:ext uri="{FF2B5EF4-FFF2-40B4-BE49-F238E27FC236}">
                <a16:creationId xmlns:a16="http://schemas.microsoft.com/office/drawing/2014/main" id="{74F13E48-D3B4-4B1A-A0E0-301F93BF7AE2}"/>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62D8C142-414F-4CBD-BA0A-EF17D3B5DF8B}"/>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 first payoff is a sharp decomposition of firm wage relevance into a common ladder and heterogeneous firm gaps.</a:t>
            </a:r>
          </a:p>
        </p:txBody>
      </p:sp>
      <p:sp>
        <p:nvSpPr>
          <p:cNvPr id="7" name="Rectangle 6">
            <a:extLst>
              <a:ext uri="{FF2B5EF4-FFF2-40B4-BE49-F238E27FC236}">
                <a16:creationId xmlns:a16="http://schemas.microsoft.com/office/drawing/2014/main" id="{D1CE5925-421F-4A35-B174-2165DB1EA965}"/>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 11; TeX Part II, Proposition 1 proof</a:t>
            </a:r>
          </a:p>
        </p:txBody>
      </p:sp>
      <p:sp>
        <p:nvSpPr>
          <p:cNvPr id="8" name="Rectangle 7">
            <a:extLst>
              <a:ext uri="{FF2B5EF4-FFF2-40B4-BE49-F238E27FC236}">
                <a16:creationId xmlns:a16="http://schemas.microsoft.com/office/drawing/2014/main" id="{A1170E69-89C5-43FE-BA52-11136E7A50E3}"/>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6</a:t>
            </a:r>
          </a:p>
        </p:txBody>
      </p:sp>
    </p:spTree>
    <p:extLst>
      <p:ext uri="{BB962C8B-B14F-4D97-AF65-F5344CB8AC3E}">
        <p14:creationId xmlns:p14="http://schemas.microsoft.com/office/powerpoint/2010/main" val="1728469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515066-8169-4795-A05F-B22B8C776401}"/>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6 | DECOMPOSE FIRM RELEVANCE</a:t>
            </a:r>
          </a:p>
        </p:txBody>
      </p:sp>
      <p:sp>
        <p:nvSpPr>
          <p:cNvPr id="2" name="Rectangle 1">
            <a:extLst>
              <a:ext uri="{FF2B5EF4-FFF2-40B4-BE49-F238E27FC236}">
                <a16:creationId xmlns:a16="http://schemas.microsoft.com/office/drawing/2014/main" id="{3BCB235E-E9CB-4247-8BFD-ACAA5D87A0CC}"/>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Firm wage dispersion equals common-premium dispersion plus half of gap heterogeneity</a:t>
            </a:r>
          </a:p>
        </p:txBody>
      </p:sp>
      <p:pic>
        <p:nvPicPr>
          <p:cNvPr id="11" name="Picture 10"/>
          <p:cNvPicPr>
            <a:picLocks noChangeAspect="1"/>
          </p:cNvPicPr>
          <p:nvPr/>
        </p:nvPicPr>
        <p:blipFill>
          <a:blip r:embed="rId3"/>
          <a:stretch/>
        </p:blipFill>
        <p:spPr>
          <a:xfrm>
            <a:off x="2286000" y="1466850"/>
            <a:ext cx="7620000" cy="952500"/>
          </a:xfrm>
          <a:prstGeom prst="rect">
            <a:avLst/>
          </a:prstGeom>
        </p:spPr>
      </p:pic>
      <p:sp>
        <p:nvSpPr>
          <p:cNvPr id="4" name="Rectangle 3">
            <a:extLst>
              <a:ext uri="{FF2B5EF4-FFF2-40B4-BE49-F238E27FC236}">
                <a16:creationId xmlns:a16="http://schemas.microsoft.com/office/drawing/2014/main" id="{79E6AD45-585A-48BE-A02F-6D0D6945192D}"/>
              </a:ext>
            </a:extLst>
          </p:cNvPr>
          <p:cNvSpPr>
            <a:spLocks noGrp="1"/>
          </p:cNvSpPr>
          <p:nvPr/>
        </p:nvSpPr>
        <p:spPr>
          <a:xfrm>
            <a:off x="819150" y="2686050"/>
            <a:ext cx="10477500" cy="2790825"/>
          </a:xfrm>
          <a:prstGeom prst="rect">
            <a:avLst/>
          </a:prstGeom>
          <a:noFill/>
          <a:ln w="0">
            <a:noFill/>
            <a:prstDash val="solid"/>
          </a:ln>
        </p:spPr>
        <p:txBody>
          <a:bodyPr/>
          <a:lstStyle/>
          <a:p>
            <a:pPr algn="l">
              <a:defRPr sz="1425" b="0">
                <a:solidFill>
                  <a:srgbClr val="000000"/>
                </a:solidFill>
              </a:defRPr>
            </a:pPr>
            <a:r>
              <a:rPr sz="1425" b="0">
                <a:solidFill>
                  <a:srgbClr val="000000"/>
                </a:solidFill>
              </a:rPr>
              <a:t>For a fixed worker, only the common firm component and the interaction vary across firms. Orthogonality eliminates their covariance after averaging over workers.</a:t>
            </a:r>
          </a:p>
          <a:p>
            <a:endParaRPr sz="1425" b="0">
              <a:solidFill>
                <a:srgbClr val="000000"/>
              </a:solidFill>
            </a:endParaRPr>
          </a:p>
          <a:p>
            <a:pPr algn="l">
              <a:defRPr sz="1425" b="0">
                <a:solidFill>
                  <a:srgbClr val="000000"/>
                </a:solidFill>
              </a:defRPr>
            </a:pPr>
            <a:r>
              <a:rPr sz="1425" b="0">
                <a:solidFill>
                  <a:srgbClr val="000000"/>
                </a:solidFill>
              </a:rPr>
              <a:t>A difference between two independently drawn firms doubles the interaction variance, so the gap-heterogeneity statistic is twice the interaction contribution. The ratio of half the gap statistic to total firm relevance is therefore the share that a common firm premium cannot summarize.</a:t>
            </a:r>
          </a:p>
        </p:txBody>
      </p:sp>
      <p:sp>
        <p:nvSpPr>
          <p:cNvPr id="5" name="Rectangle 4">
            <a:extLst>
              <a:ext uri="{FF2B5EF4-FFF2-40B4-BE49-F238E27FC236}">
                <a16:creationId xmlns:a16="http://schemas.microsoft.com/office/drawing/2014/main" id="{0753919C-15D5-405E-B188-008562B7D3B1}"/>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F77D6A6D-7653-470B-9524-866303F2BAC4}"/>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 same projected components also reveal why assignment has more than the single AKM sorting channel.</a:t>
            </a:r>
          </a:p>
        </p:txBody>
      </p:sp>
      <p:sp>
        <p:nvSpPr>
          <p:cNvPr id="7" name="Rectangle 6">
            <a:extLst>
              <a:ext uri="{FF2B5EF4-FFF2-40B4-BE49-F238E27FC236}">
                <a16:creationId xmlns:a16="http://schemas.microsoft.com/office/drawing/2014/main" id="{626A8B3A-8F7C-4A6C-BB18-DBC0DF35D0ED}"/>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13-14; Proposition 2</a:t>
            </a:r>
          </a:p>
        </p:txBody>
      </p:sp>
      <p:sp>
        <p:nvSpPr>
          <p:cNvPr id="8" name="Rectangle 7">
            <a:extLst>
              <a:ext uri="{FF2B5EF4-FFF2-40B4-BE49-F238E27FC236}">
                <a16:creationId xmlns:a16="http://schemas.microsoft.com/office/drawing/2014/main" id="{60F17849-B2A0-476E-A4A6-3057510DEB2C}"/>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7</a:t>
            </a:r>
          </a:p>
        </p:txBody>
      </p:sp>
    </p:spTree>
    <p:extLst>
      <p:ext uri="{BB962C8B-B14F-4D97-AF65-F5344CB8AC3E}">
        <p14:creationId xmlns:p14="http://schemas.microsoft.com/office/powerpoint/2010/main" val="1572262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422C6A-E1D2-4373-AAF3-0E42A8D0D499}"/>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7 | DECOMPOSE ASSIGNMENT</a:t>
            </a:r>
          </a:p>
        </p:txBody>
      </p:sp>
      <p:sp>
        <p:nvSpPr>
          <p:cNvPr id="2" name="Rectangle 1">
            <a:extLst>
              <a:ext uri="{FF2B5EF4-FFF2-40B4-BE49-F238E27FC236}">
                <a16:creationId xmlns:a16="http://schemas.microsoft.com/office/drawing/2014/main" id="{18D3728F-696A-4BB3-815B-30171DBFD832}"/>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Nonadditivity opens three assignment channels beyond AKM sorting</a:t>
            </a:r>
          </a:p>
        </p:txBody>
      </p:sp>
      <p:pic>
        <p:nvPicPr>
          <p:cNvPr id="11" name="Picture 10"/>
          <p:cNvPicPr>
            <a:picLocks noChangeAspect="1"/>
          </p:cNvPicPr>
          <p:nvPr/>
        </p:nvPicPr>
        <p:blipFill>
          <a:blip r:embed="rId3"/>
          <a:stretch/>
        </p:blipFill>
        <p:spPr>
          <a:xfrm>
            <a:off x="781050" y="1497806"/>
            <a:ext cx="10629900" cy="1328738"/>
          </a:xfrm>
          <a:prstGeom prst="rect">
            <a:avLst/>
          </a:prstGeom>
        </p:spPr>
      </p:pic>
      <p:sp>
        <p:nvSpPr>
          <p:cNvPr id="4" name="Rectangle 3">
            <a:extLst>
              <a:ext uri="{FF2B5EF4-FFF2-40B4-BE49-F238E27FC236}">
                <a16:creationId xmlns:a16="http://schemas.microsoft.com/office/drawing/2014/main" id="{747D18A2-86EF-4EA5-829C-3AEE6633E6F7}"/>
              </a:ext>
            </a:extLst>
          </p:cNvPr>
          <p:cNvSpPr>
            <a:spLocks noGrp="1"/>
          </p:cNvSpPr>
          <p:nvPr/>
        </p:nvSpPr>
        <p:spPr>
          <a:xfrm>
            <a:off x="819150" y="3124200"/>
            <a:ext cx="10477500" cy="2352675"/>
          </a:xfrm>
          <a:prstGeom prst="rect">
            <a:avLst/>
          </a:prstGeom>
          <a:noFill/>
          <a:ln w="0">
            <a:noFill/>
            <a:prstDash val="solid"/>
          </a:ln>
        </p:spPr>
        <p:txBody>
          <a:bodyPr/>
          <a:lstStyle/>
          <a:p>
            <a:pPr algn="l">
              <a:defRPr sz="1388" b="0">
                <a:solidFill>
                  <a:srgbClr val="000000"/>
                </a:solidFill>
              </a:defRPr>
            </a:pPr>
            <a:r>
              <a:rPr sz="1388" b="0">
                <a:solidFill>
                  <a:srgbClr val="000000"/>
                </a:solidFill>
              </a:rPr>
              <a:t>Observed and product assignments have the same worker and firm marginals, so the marginal variances of the worker and firm components cancel. What remains is covariance between the common components, two covariances involving comparative advantage, and a change in interaction dispersion.</a:t>
            </a:r>
          </a:p>
          <a:p>
            <a:endParaRPr sz="1388" b="0">
              <a:solidFill>
                <a:srgbClr val="000000"/>
              </a:solidFill>
            </a:endParaRPr>
          </a:p>
          <a:p>
            <a:pPr algn="l">
              <a:defRPr sz="1388" b="0">
                <a:solidFill>
                  <a:srgbClr val="000000"/>
                </a:solidFill>
              </a:defRPr>
            </a:pPr>
            <a:r>
              <a:rPr sz="1388" b="0">
                <a:solidFill>
                  <a:srgbClr val="000000"/>
                </a:solidFill>
              </a:rPr>
              <a:t>The first term is AKM-style sorting. The other three distinguish sorting on favorable cells from sorting on a common firm ranking.</a:t>
            </a:r>
          </a:p>
        </p:txBody>
      </p:sp>
      <p:sp>
        <p:nvSpPr>
          <p:cNvPr id="5" name="Rectangle 4">
            <a:extLst>
              <a:ext uri="{FF2B5EF4-FFF2-40B4-BE49-F238E27FC236}">
                <a16:creationId xmlns:a16="http://schemas.microsoft.com/office/drawing/2014/main" id="{64884959-E819-45B1-84C6-6B40718D206B}"/>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97DBBFBE-B4B1-456D-A69C-2874871BD807}"/>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A separate mean comparison then isolates the cleanest scalar measure of selection into comparative advantage.</a:t>
            </a:r>
          </a:p>
        </p:txBody>
      </p:sp>
      <p:sp>
        <p:nvSpPr>
          <p:cNvPr id="7" name="Rectangle 6">
            <a:extLst>
              <a:ext uri="{FF2B5EF4-FFF2-40B4-BE49-F238E27FC236}">
                <a16:creationId xmlns:a16="http://schemas.microsoft.com/office/drawing/2014/main" id="{87730B14-51BD-4587-8DFC-6E9EC70445F9}"/>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15-17; Proposition 3</a:t>
            </a:r>
          </a:p>
        </p:txBody>
      </p:sp>
      <p:sp>
        <p:nvSpPr>
          <p:cNvPr id="8" name="Rectangle 7">
            <a:extLst>
              <a:ext uri="{FF2B5EF4-FFF2-40B4-BE49-F238E27FC236}">
                <a16:creationId xmlns:a16="http://schemas.microsoft.com/office/drawing/2014/main" id="{F6AC9191-3586-4F15-8291-D776A81B491D}"/>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8</a:t>
            </a:r>
          </a:p>
        </p:txBody>
      </p:sp>
    </p:spTree>
    <p:extLst>
      <p:ext uri="{BB962C8B-B14F-4D97-AF65-F5344CB8AC3E}">
        <p14:creationId xmlns:p14="http://schemas.microsoft.com/office/powerpoint/2010/main" val="1923059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F8ED0DC-F4A0-4072-B2D9-66F739F75F4D}"/>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8 | ISOLATE MEAN INTERACTION SELECTION</a:t>
            </a:r>
          </a:p>
        </p:txBody>
      </p:sp>
      <p:sp>
        <p:nvSpPr>
          <p:cNvPr id="2" name="Rectangle 1">
            <a:extLst>
              <a:ext uri="{FF2B5EF4-FFF2-40B4-BE49-F238E27FC236}">
                <a16:creationId xmlns:a16="http://schemas.microsoft.com/office/drawing/2014/main" id="{B78BC7EA-B187-457B-9E9F-5271CBB85275}"/>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Breaking assignment leaves only the selected interaction mean</a:t>
            </a:r>
          </a:p>
        </p:txBody>
      </p:sp>
      <p:pic>
        <p:nvPicPr>
          <p:cNvPr id="11" name="Picture 10"/>
          <p:cNvPicPr>
            <a:picLocks noChangeAspect="1"/>
          </p:cNvPicPr>
          <p:nvPr/>
        </p:nvPicPr>
        <p:blipFill>
          <a:blip r:embed="rId3"/>
          <a:stretch/>
        </p:blipFill>
        <p:spPr>
          <a:xfrm>
            <a:off x="2438400" y="1466850"/>
            <a:ext cx="7315200" cy="914400"/>
          </a:xfrm>
          <a:prstGeom prst="rect">
            <a:avLst/>
          </a:prstGeom>
        </p:spPr>
      </p:pic>
      <p:sp>
        <p:nvSpPr>
          <p:cNvPr id="4" name="Rectangle 3">
            <a:extLst>
              <a:ext uri="{FF2B5EF4-FFF2-40B4-BE49-F238E27FC236}">
                <a16:creationId xmlns:a16="http://schemas.microsoft.com/office/drawing/2014/main" id="{75708F36-7046-4AA9-BFE3-F6ED4DA8BB3F}"/>
              </a:ext>
            </a:extLst>
          </p:cNvPr>
          <p:cNvSpPr>
            <a:spLocks noGrp="1"/>
          </p:cNvSpPr>
          <p:nvPr/>
        </p:nvSpPr>
        <p:spPr>
          <a:xfrm>
            <a:off x="819150" y="2647950"/>
            <a:ext cx="10477500" cy="2828925"/>
          </a:xfrm>
          <a:prstGeom prst="rect">
            <a:avLst/>
          </a:prstGeom>
          <a:noFill/>
          <a:ln w="0">
            <a:noFill/>
            <a:prstDash val="solid"/>
          </a:ln>
        </p:spPr>
        <p:txBody>
          <a:bodyPr/>
          <a:lstStyle/>
          <a:p>
            <a:pPr algn="l">
              <a:defRPr sz="1500" b="0">
                <a:solidFill>
                  <a:srgbClr val="000000"/>
                </a:solidFill>
              </a:defRPr>
            </a:pPr>
            <a:r>
              <a:rPr sz="1500" b="0">
                <a:solidFill>
                  <a:srgbClr val="000000"/>
                </a:solidFill>
              </a:rPr>
              <a:t>Because observed and product assignments share both marginals, the worker and common-firm means are identical under the two measures. Their difference therefore equals the observed mean of the centered interaction.</a:t>
            </a:r>
          </a:p>
          <a:p>
            <a:endParaRPr sz="1500" b="0">
              <a:solidFill>
                <a:srgbClr val="000000"/>
              </a:solidFill>
            </a:endParaRPr>
          </a:p>
          <a:p>
            <a:pPr algn="l">
              <a:defRPr sz="1500" b="0">
                <a:solidFill>
                  <a:srgbClr val="000000"/>
                </a:solidFill>
              </a:defRPr>
            </a:pPr>
            <a:r>
              <a:rPr sz="1500" b="0">
                <a:solidFill>
                  <a:srgbClr val="000000"/>
                </a:solidFill>
              </a:rPr>
              <a:t>A positive value says realized matches occupy cells above what the two marginal components predict. It is a wage-schedule statement, not automatically a statement about output, surplus, or welfare.</a:t>
            </a:r>
          </a:p>
        </p:txBody>
      </p:sp>
      <p:sp>
        <p:nvSpPr>
          <p:cNvPr id="5" name="Rectangle 4">
            <a:extLst>
              <a:ext uri="{FF2B5EF4-FFF2-40B4-BE49-F238E27FC236}">
                <a16:creationId xmlns:a16="http://schemas.microsoft.com/office/drawing/2014/main" id="{DD0ACD4B-64A2-4869-A53B-9AB1EA953313}"/>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3DF91293-3C0D-4F9C-8F4D-8129B664E401}"/>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 nested special cases show exactly which restrictions turn these new objects off.</a:t>
            </a:r>
          </a:p>
        </p:txBody>
      </p:sp>
      <p:sp>
        <p:nvSpPr>
          <p:cNvPr id="7" name="Rectangle 6">
            <a:extLst>
              <a:ext uri="{FF2B5EF4-FFF2-40B4-BE49-F238E27FC236}">
                <a16:creationId xmlns:a16="http://schemas.microsoft.com/office/drawing/2014/main" id="{17B22646-D516-48EF-B722-A738AF7163CC}"/>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16-17, 40-41</a:t>
            </a:r>
          </a:p>
        </p:txBody>
      </p:sp>
      <p:sp>
        <p:nvSpPr>
          <p:cNvPr id="8" name="Rectangle 7">
            <a:extLst>
              <a:ext uri="{FF2B5EF4-FFF2-40B4-BE49-F238E27FC236}">
                <a16:creationId xmlns:a16="http://schemas.microsoft.com/office/drawing/2014/main" id="{755431A0-8C80-4C09-9FE2-B6EFD3319453}"/>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9</a:t>
            </a:r>
          </a:p>
        </p:txBody>
      </p:sp>
    </p:spTree>
    <p:extLst>
      <p:ext uri="{BB962C8B-B14F-4D97-AF65-F5344CB8AC3E}">
        <p14:creationId xmlns:p14="http://schemas.microsoft.com/office/powerpoint/2010/main" val="221132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C3B198E-06A3-448A-ACE2-227666B6F64E}"/>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9 | CHECK THE NESTED MODELS</a:t>
            </a:r>
          </a:p>
        </p:txBody>
      </p:sp>
      <p:sp>
        <p:nvSpPr>
          <p:cNvPr id="2" name="Rectangle 1">
            <a:extLst>
              <a:ext uri="{FF2B5EF4-FFF2-40B4-BE49-F238E27FC236}">
                <a16:creationId xmlns:a16="http://schemas.microsoft.com/office/drawing/2014/main" id="{4DF68713-6DA3-4B25-8D11-550F07C23450}"/>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Additivity, Tukey interactions, and free factors impose distinct restrictions</a:t>
            </a:r>
          </a:p>
        </p:txBody>
      </p:sp>
      <p:pic>
        <p:nvPicPr>
          <p:cNvPr id="11" name="Picture 10"/>
          <p:cNvPicPr>
            <a:picLocks noChangeAspect="1"/>
          </p:cNvPicPr>
          <p:nvPr/>
        </p:nvPicPr>
        <p:blipFill>
          <a:blip r:embed="rId3"/>
          <a:stretch/>
        </p:blipFill>
        <p:spPr>
          <a:xfrm>
            <a:off x="781050" y="1545431"/>
            <a:ext cx="10629900" cy="1328738"/>
          </a:xfrm>
          <a:prstGeom prst="rect">
            <a:avLst/>
          </a:prstGeom>
        </p:spPr>
      </p:pic>
      <p:sp>
        <p:nvSpPr>
          <p:cNvPr id="4" name="Rectangle 3">
            <a:extLst>
              <a:ext uri="{FF2B5EF4-FFF2-40B4-BE49-F238E27FC236}">
                <a16:creationId xmlns:a16="http://schemas.microsoft.com/office/drawing/2014/main" id="{F62B69EE-CE4C-4C71-89E1-40851DF0DB70}"/>
              </a:ext>
            </a:extLst>
          </p:cNvPr>
          <p:cNvSpPr>
            <a:spLocks noGrp="1"/>
          </p:cNvSpPr>
          <p:nvPr/>
        </p:nvSpPr>
        <p:spPr>
          <a:xfrm>
            <a:off x="819150" y="3219450"/>
            <a:ext cx="10477500" cy="2257425"/>
          </a:xfrm>
          <a:prstGeom prst="rect">
            <a:avLst/>
          </a:prstGeom>
          <a:noFill/>
          <a:ln w="0">
            <a:noFill/>
            <a:prstDash val="solid"/>
          </a:ln>
        </p:spPr>
        <p:txBody>
          <a:bodyPr/>
          <a:lstStyle/>
          <a:p>
            <a:pPr algn="l">
              <a:defRPr sz="1388" b="0">
                <a:solidFill>
                  <a:srgbClr val="000000"/>
                </a:solidFill>
              </a:defRPr>
            </a:pPr>
            <a:r>
              <a:rPr sz="1388" b="0">
                <a:solidFill>
                  <a:srgbClr val="000000"/>
                </a:solidFill>
              </a:rPr>
              <a:t>Additivity eliminates interaction-based firm relevance and assignment. A centered Tukey term ties comparative advantage to the same worker and firm indices that generate the main effects. A free-factor interaction permits a rank-one surface without forcing that economic interpretation.</a:t>
            </a:r>
          </a:p>
          <a:p>
            <a:endParaRPr sz="1388" b="0">
              <a:solidFill>
                <a:srgbClr val="000000"/>
              </a:solidFill>
            </a:endParaRPr>
          </a:p>
          <a:p>
            <a:pPr algn="l">
              <a:defRPr sz="1388" b="0">
                <a:solidFill>
                  <a:srgbClr val="000000"/>
                </a:solidFill>
              </a:defRPr>
            </a:pPr>
            <a:r>
              <a:rPr sz="1388" b="0">
                <a:solidFill>
                  <a:srgbClr val="000000"/>
                </a:solidFill>
              </a:rPr>
              <a:t>Thus algebraic rank one does not by itself deliver a low-dimensional parameterization: unrestricted worker and firm factors can still be numerous incidental objects.</a:t>
            </a:r>
          </a:p>
        </p:txBody>
      </p:sp>
      <p:sp>
        <p:nvSpPr>
          <p:cNvPr id="5" name="Rectangle 4">
            <a:extLst>
              <a:ext uri="{FF2B5EF4-FFF2-40B4-BE49-F238E27FC236}">
                <a16:creationId xmlns:a16="http://schemas.microsoft.com/office/drawing/2014/main" id="{19AD9366-8FC8-45A8-9C67-0B60B4D6D06D}"/>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BA39F6BF-29AD-47A3-8504-9FCE2EEAAF18}"/>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These definitions are coherent on a complete schedule; the next issue is whether sparse observed matches identify them.</a:t>
            </a:r>
          </a:p>
        </p:txBody>
      </p:sp>
      <p:sp>
        <p:nvSpPr>
          <p:cNvPr id="7" name="Rectangle 6">
            <a:extLst>
              <a:ext uri="{FF2B5EF4-FFF2-40B4-BE49-F238E27FC236}">
                <a16:creationId xmlns:a16="http://schemas.microsoft.com/office/drawing/2014/main" id="{64D58A77-A158-4CCD-AA76-77FA81B6645C}"/>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17-23; Appendix E</a:t>
            </a:r>
          </a:p>
        </p:txBody>
      </p:sp>
      <p:sp>
        <p:nvSpPr>
          <p:cNvPr id="8" name="Rectangle 7">
            <a:extLst>
              <a:ext uri="{FF2B5EF4-FFF2-40B4-BE49-F238E27FC236}">
                <a16:creationId xmlns:a16="http://schemas.microsoft.com/office/drawing/2014/main" id="{5422C30F-9D6A-4205-ABED-14B31822BDD9}"/>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10</a:t>
            </a:r>
          </a:p>
        </p:txBody>
      </p:sp>
    </p:spTree>
    <p:extLst>
      <p:ext uri="{BB962C8B-B14F-4D97-AF65-F5344CB8AC3E}">
        <p14:creationId xmlns:p14="http://schemas.microsoft.com/office/powerpoint/2010/main" val="1289110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F1295A-623F-4594-8787-BE8CFFBFD1A0}"/>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10 | STATE THE SUPPORT PROBLEM</a:t>
            </a:r>
          </a:p>
        </p:txBody>
      </p:sp>
      <p:sp>
        <p:nvSpPr>
          <p:cNvPr id="2" name="Rectangle 1">
            <a:extLst>
              <a:ext uri="{FF2B5EF4-FFF2-40B4-BE49-F238E27FC236}">
                <a16:creationId xmlns:a16="http://schemas.microsoft.com/office/drawing/2014/main" id="{BA96162E-81C5-4158-BCED-D52CBC5F6755}"/>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The data reveal observed edges, while the targets generally use unobserved cells</a:t>
            </a:r>
          </a:p>
        </p:txBody>
      </p:sp>
      <p:pic>
        <p:nvPicPr>
          <p:cNvPr id="11" name="Picture 10"/>
          <p:cNvPicPr>
            <a:picLocks noChangeAspect="1"/>
          </p:cNvPicPr>
          <p:nvPr/>
        </p:nvPicPr>
        <p:blipFill>
          <a:blip r:embed="rId3"/>
          <a:stretch/>
        </p:blipFill>
        <p:spPr>
          <a:xfrm>
            <a:off x="2590800" y="1466850"/>
            <a:ext cx="7010400" cy="876300"/>
          </a:xfrm>
          <a:prstGeom prst="rect">
            <a:avLst/>
          </a:prstGeom>
        </p:spPr>
      </p:pic>
      <p:sp>
        <p:nvSpPr>
          <p:cNvPr id="4" name="Rectangle 3">
            <a:extLst>
              <a:ext uri="{FF2B5EF4-FFF2-40B4-BE49-F238E27FC236}">
                <a16:creationId xmlns:a16="http://schemas.microsoft.com/office/drawing/2014/main" id="{853F678E-4EEB-4305-A03A-10FE06D8B0E9}"/>
              </a:ext>
            </a:extLst>
          </p:cNvPr>
          <p:cNvSpPr>
            <a:spLocks noGrp="1"/>
          </p:cNvSpPr>
          <p:nvPr/>
        </p:nvSpPr>
        <p:spPr>
          <a:xfrm>
            <a:off x="819150" y="2609850"/>
            <a:ext cx="10477500" cy="2867025"/>
          </a:xfrm>
          <a:prstGeom prst="rect">
            <a:avLst/>
          </a:prstGeom>
          <a:noFill/>
          <a:ln w="0">
            <a:noFill/>
            <a:prstDash val="solid"/>
          </a:ln>
        </p:spPr>
        <p:txBody>
          <a:bodyPr/>
          <a:lstStyle/>
          <a:p>
            <a:pPr algn="l">
              <a:defRPr sz="1500" b="0">
                <a:solidFill>
                  <a:srgbClr val="000000"/>
                </a:solidFill>
              </a:defRPr>
            </a:pPr>
            <a:r>
              <a:rPr sz="1500" b="0">
                <a:solidFill>
                  <a:srgbClr val="000000"/>
                </a:solidFill>
              </a:rPr>
              <a:t>The restriction operator selects the worker-firm cells present in the bipartite graph. Any perturbation in its kernel changes only missing cells and is observationally invisible without further structure.</a:t>
            </a:r>
          </a:p>
          <a:p>
            <a:endParaRPr sz="1500" b="0">
              <a:solidFill>
                <a:srgbClr val="000000"/>
              </a:solidFill>
            </a:endParaRPr>
          </a:p>
          <a:p>
            <a:pPr algn="l">
              <a:defRPr sz="1500" b="0">
                <a:solidFill>
                  <a:srgbClr val="000000"/>
                </a:solidFill>
              </a:defRPr>
            </a:pPr>
            <a:r>
              <a:rPr sz="1500" b="0">
                <a:solidFill>
                  <a:srgbClr val="000000"/>
                </a:solidFill>
              </a:rPr>
              <a:t>Ordinary connectedness links worker and firm main effects in an additive model. It does not determine arbitrary cardinal levels or contrasts in missing pair-specific wage cells.</a:t>
            </a:r>
          </a:p>
        </p:txBody>
      </p:sp>
      <p:sp>
        <p:nvSpPr>
          <p:cNvPr id="5" name="Rectangle 4">
            <a:extLst>
              <a:ext uri="{FF2B5EF4-FFF2-40B4-BE49-F238E27FC236}">
                <a16:creationId xmlns:a16="http://schemas.microsoft.com/office/drawing/2014/main" id="{23C35770-84C0-45BF-A049-FFDA76F52491}"/>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28FF0927-0C7A-4878-A1EC-E17BD29A1BD6}"/>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Identification therefore reduces to a precise invariance question: can an invisible perturbation change the target?</a:t>
            </a:r>
          </a:p>
        </p:txBody>
      </p:sp>
      <p:sp>
        <p:nvSpPr>
          <p:cNvPr id="7" name="Rectangle 6">
            <a:extLst>
              <a:ext uri="{FF2B5EF4-FFF2-40B4-BE49-F238E27FC236}">
                <a16:creationId xmlns:a16="http://schemas.microsoft.com/office/drawing/2014/main" id="{3DFFF768-3B1D-4D3E-9858-CC2ECE58B645}"/>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19-21</a:t>
            </a:r>
          </a:p>
        </p:txBody>
      </p:sp>
      <p:sp>
        <p:nvSpPr>
          <p:cNvPr id="8" name="Rectangle 7">
            <a:extLst>
              <a:ext uri="{FF2B5EF4-FFF2-40B4-BE49-F238E27FC236}">
                <a16:creationId xmlns:a16="http://schemas.microsoft.com/office/drawing/2014/main" id="{D8473CE9-8BDC-494E-8E03-186648D87F37}"/>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11</a:t>
            </a:r>
          </a:p>
        </p:txBody>
      </p:sp>
    </p:spTree>
    <p:extLst>
      <p:ext uri="{BB962C8B-B14F-4D97-AF65-F5344CB8AC3E}">
        <p14:creationId xmlns:p14="http://schemas.microsoft.com/office/powerpoint/2010/main" val="1960728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FF9FA2A-0496-4D4D-B7C9-94E161176973}"/>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11 | APPLY PROPOSITION 4</a:t>
            </a:r>
          </a:p>
        </p:txBody>
      </p:sp>
      <p:sp>
        <p:nvSpPr>
          <p:cNvPr id="2" name="Rectangle 1">
            <a:extLst>
              <a:ext uri="{FF2B5EF4-FFF2-40B4-BE49-F238E27FC236}">
                <a16:creationId xmlns:a16="http://schemas.microsoft.com/office/drawing/2014/main" id="{71A1E959-4758-48ED-88FC-450623D0C0E7}"/>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A target is identified only when every missing-cell perturbation leaves it unchanged</a:t>
            </a:r>
          </a:p>
        </p:txBody>
      </p:sp>
      <p:pic>
        <p:nvPicPr>
          <p:cNvPr id="11" name="Picture 10"/>
          <p:cNvPicPr>
            <a:picLocks noChangeAspect="1"/>
          </p:cNvPicPr>
          <p:nvPr/>
        </p:nvPicPr>
        <p:blipFill>
          <a:blip r:embed="rId3"/>
          <a:stretch/>
        </p:blipFill>
        <p:spPr>
          <a:xfrm>
            <a:off x="1066800" y="1466850"/>
            <a:ext cx="10058400" cy="1257300"/>
          </a:xfrm>
          <a:prstGeom prst="rect">
            <a:avLst/>
          </a:prstGeom>
        </p:spPr>
      </p:pic>
      <p:sp>
        <p:nvSpPr>
          <p:cNvPr id="4" name="Rectangle 3">
            <a:extLst>
              <a:ext uri="{FF2B5EF4-FFF2-40B4-BE49-F238E27FC236}">
                <a16:creationId xmlns:a16="http://schemas.microsoft.com/office/drawing/2014/main" id="{94BA3BB3-4A3E-4D50-8AFD-A9E5C5099852}"/>
              </a:ext>
            </a:extLst>
          </p:cNvPr>
          <p:cNvSpPr>
            <a:spLocks noGrp="1"/>
          </p:cNvSpPr>
          <p:nvPr/>
        </p:nvSpPr>
        <p:spPr>
          <a:xfrm>
            <a:off x="819150" y="2990850"/>
            <a:ext cx="10477500" cy="2486025"/>
          </a:xfrm>
          <a:prstGeom prst="rect">
            <a:avLst/>
          </a:prstGeom>
          <a:noFill/>
          <a:ln w="0">
            <a:noFill/>
            <a:prstDash val="solid"/>
          </a:ln>
        </p:spPr>
        <p:txBody>
          <a:bodyPr/>
          <a:lstStyle/>
          <a:p>
            <a:pPr algn="l">
              <a:defRPr sz="1388" b="0">
                <a:solidFill>
                  <a:srgbClr val="000000"/>
                </a:solidFill>
              </a:defRPr>
            </a:pPr>
            <a:r>
              <a:rPr sz="1388" b="0">
                <a:solidFill>
                  <a:srgbClr val="000000"/>
                </a:solidFill>
              </a:rPr>
              <a:t>For a linear target, the target loading must annihilate every direction hidden by the graph. For a quadratic target, both the linear cross term and the perturbation's own quadratic contribution must vanish over the admissible model class.</a:t>
            </a:r>
          </a:p>
          <a:p>
            <a:endParaRPr sz="1388" b="0">
              <a:solidFill>
                <a:srgbClr val="000000"/>
              </a:solidFill>
            </a:endParaRPr>
          </a:p>
          <a:p>
            <a:pPr algn="l">
              <a:defRPr sz="1388" b="0">
                <a:solidFill>
                  <a:srgbClr val="000000"/>
                </a:solidFill>
              </a:defRPr>
            </a:pPr>
            <a:r>
              <a:rPr sz="1388" b="0">
                <a:solidFill>
                  <a:srgbClr val="000000"/>
                </a:solidFill>
              </a:rPr>
              <a:t>The paper's central firm and assignment statistics generally fail this test on an unrestricted incomplete schedule. With unbounded missing wages, some identified sets are unbounded.</a:t>
            </a:r>
          </a:p>
        </p:txBody>
      </p:sp>
      <p:sp>
        <p:nvSpPr>
          <p:cNvPr id="5" name="Rectangle 4">
            <a:extLst>
              <a:ext uri="{FF2B5EF4-FFF2-40B4-BE49-F238E27FC236}">
                <a16:creationId xmlns:a16="http://schemas.microsoft.com/office/drawing/2014/main" id="{B8E6FA97-6E64-434C-9790-A9AD9BACE565}"/>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5E84C3BD-7F47-427F-84C0-3AEDF6375955}"/>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 model must therefore restrict the missing interaction surface, while preserving unrestricted worker and firm main effects.</a:t>
            </a:r>
          </a:p>
        </p:txBody>
      </p:sp>
      <p:sp>
        <p:nvSpPr>
          <p:cNvPr id="7" name="Rectangle 6">
            <a:extLst>
              <a:ext uri="{FF2B5EF4-FFF2-40B4-BE49-F238E27FC236}">
                <a16:creationId xmlns:a16="http://schemas.microsoft.com/office/drawing/2014/main" id="{12223EB2-3814-44D3-A5DF-A688BC8A7B8D}"/>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19-21; Proposition 4 and Corollary 1</a:t>
            </a:r>
          </a:p>
        </p:txBody>
      </p:sp>
      <p:sp>
        <p:nvSpPr>
          <p:cNvPr id="8" name="Rectangle 7">
            <a:extLst>
              <a:ext uri="{FF2B5EF4-FFF2-40B4-BE49-F238E27FC236}">
                <a16:creationId xmlns:a16="http://schemas.microsoft.com/office/drawing/2014/main" id="{31E14652-65DA-4CDF-97D6-827127CCD063}"/>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12</a:t>
            </a:r>
          </a:p>
        </p:txBody>
      </p:sp>
    </p:spTree>
    <p:extLst>
      <p:ext uri="{BB962C8B-B14F-4D97-AF65-F5344CB8AC3E}">
        <p14:creationId xmlns:p14="http://schemas.microsoft.com/office/powerpoint/2010/main" val="1705264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0054CB1-F55C-4E17-9456-F8734FD5D680}"/>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12 | ADD THE MINIMAL STRUCTURE</a:t>
            </a:r>
          </a:p>
        </p:txBody>
      </p:sp>
      <p:sp>
        <p:nvSpPr>
          <p:cNvPr id="2" name="Rectangle 1">
            <a:extLst>
              <a:ext uri="{FF2B5EF4-FFF2-40B4-BE49-F238E27FC236}">
                <a16:creationId xmlns:a16="http://schemas.microsoft.com/office/drawing/2014/main" id="{17A9117F-443A-4EAF-A541-8C8CA97848B3}"/>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Low rank is imposed on comparative advantage, not on worker or firm main effects</a:t>
            </a:r>
          </a:p>
        </p:txBody>
      </p:sp>
      <p:pic>
        <p:nvPicPr>
          <p:cNvPr id="11" name="Picture 10"/>
          <p:cNvPicPr>
            <a:picLocks noChangeAspect="1"/>
          </p:cNvPicPr>
          <p:nvPr/>
        </p:nvPicPr>
        <p:blipFill>
          <a:blip r:embed="rId3"/>
          <a:stretch/>
        </p:blipFill>
        <p:spPr>
          <a:xfrm>
            <a:off x="2438400" y="1466850"/>
            <a:ext cx="7315200" cy="914400"/>
          </a:xfrm>
          <a:prstGeom prst="rect">
            <a:avLst/>
          </a:prstGeom>
        </p:spPr>
      </p:pic>
      <p:sp>
        <p:nvSpPr>
          <p:cNvPr id="4" name="Rectangle 3">
            <a:extLst>
              <a:ext uri="{FF2B5EF4-FFF2-40B4-BE49-F238E27FC236}">
                <a16:creationId xmlns:a16="http://schemas.microsoft.com/office/drawing/2014/main" id="{ACBC7B4B-6DD5-41F3-A342-3552F2A756C5}"/>
              </a:ext>
            </a:extLst>
          </p:cNvPr>
          <p:cNvSpPr>
            <a:spLocks noGrp="1"/>
          </p:cNvSpPr>
          <p:nvPr/>
        </p:nvSpPr>
        <p:spPr>
          <a:xfrm>
            <a:off x="819150" y="2647950"/>
            <a:ext cx="10477500" cy="2828925"/>
          </a:xfrm>
          <a:prstGeom prst="rect">
            <a:avLst/>
          </a:prstGeom>
          <a:noFill/>
          <a:ln w="0">
            <a:noFill/>
            <a:prstDash val="solid"/>
          </a:ln>
        </p:spPr>
        <p:txBody>
          <a:bodyPr/>
          <a:lstStyle/>
          <a:p>
            <a:pPr algn="l">
              <a:defRPr sz="1388" b="0">
                <a:solidFill>
                  <a:srgbClr val="000000"/>
                </a:solidFill>
              </a:defRPr>
            </a:pPr>
            <a:r>
              <a:rPr sz="1388" b="0">
                <a:solidFill>
                  <a:srgbClr val="000000"/>
                </a:solidFill>
              </a:rPr>
              <a:t>The additive components remain unrestricted; only the centered interaction is factorized. Setting the interaction matrix to zero nests AKM. Grouped BLM mean layers imply a low-rank double-demeaned interaction after type cells are lifted to workers and firms.</a:t>
            </a:r>
          </a:p>
          <a:p>
            <a:endParaRPr sz="1388" b="0">
              <a:solidFill>
                <a:srgbClr val="000000"/>
              </a:solidFill>
            </a:endParaRPr>
          </a:p>
          <a:p>
            <a:pPr algn="l">
              <a:defRPr sz="1388" b="0">
                <a:solidFill>
                  <a:srgbClr val="000000"/>
                </a:solidFill>
              </a:defRPr>
            </a:pPr>
            <a:r>
              <a:rPr sz="1388" b="0">
                <a:solidFill>
                  <a:srgbClr val="000000"/>
                </a:solidFill>
              </a:rPr>
              <a:t>Kline-style mover restrictions concern edge differences rather than a complete level schedule, so they are diagnostics implied by this model, not a substitute for its level structure.</a:t>
            </a:r>
          </a:p>
        </p:txBody>
      </p:sp>
      <p:sp>
        <p:nvSpPr>
          <p:cNvPr id="5" name="Rectangle 4">
            <a:extLst>
              <a:ext uri="{FF2B5EF4-FFF2-40B4-BE49-F238E27FC236}">
                <a16:creationId xmlns:a16="http://schemas.microsoft.com/office/drawing/2014/main" id="{6050C84E-370E-4B49-B855-2E88C9783D6F}"/>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63EA9691-B649-4B02-B9CC-76176C467F6B}"/>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Low rank becomes empirically useful because observed rectangles cancel the unrestricted main effects and expose interaction contrasts.</a:t>
            </a:r>
          </a:p>
        </p:txBody>
      </p:sp>
      <p:sp>
        <p:nvSpPr>
          <p:cNvPr id="7" name="Rectangle 6">
            <a:extLst>
              <a:ext uri="{FF2B5EF4-FFF2-40B4-BE49-F238E27FC236}">
                <a16:creationId xmlns:a16="http://schemas.microsoft.com/office/drawing/2014/main" id="{A8FEC2E9-43BE-4207-A854-3B60B7C3CDB5}"/>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21-23, 41-44; merged TeX Part I</a:t>
            </a:r>
          </a:p>
        </p:txBody>
      </p:sp>
      <p:sp>
        <p:nvSpPr>
          <p:cNvPr id="8" name="Rectangle 7">
            <a:extLst>
              <a:ext uri="{FF2B5EF4-FFF2-40B4-BE49-F238E27FC236}">
                <a16:creationId xmlns:a16="http://schemas.microsoft.com/office/drawing/2014/main" id="{86F79B49-2B8F-4862-BF56-7D963D784C92}"/>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13</a:t>
            </a:r>
          </a:p>
        </p:txBody>
      </p:sp>
    </p:spTree>
    <p:extLst>
      <p:ext uri="{BB962C8B-B14F-4D97-AF65-F5344CB8AC3E}">
        <p14:creationId xmlns:p14="http://schemas.microsoft.com/office/powerpoint/2010/main" val="1512841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40E45A5-9E3F-4C28-A5C6-D4EB85684615}"/>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13 | EXPLOIT RECTANGLES</a:t>
            </a:r>
          </a:p>
        </p:txBody>
      </p:sp>
      <p:sp>
        <p:nvSpPr>
          <p:cNvPr id="2" name="Rectangle 1">
            <a:extLst>
              <a:ext uri="{FF2B5EF4-FFF2-40B4-BE49-F238E27FC236}">
                <a16:creationId xmlns:a16="http://schemas.microsoft.com/office/drawing/2014/main" id="{F1067042-AD4B-489F-96F7-B94EC4628B0D}"/>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Double differences identify factor contrasts after main effects cancel</a:t>
            </a:r>
          </a:p>
        </p:txBody>
      </p:sp>
      <p:pic>
        <p:nvPicPr>
          <p:cNvPr id="11" name="Picture 10"/>
          <p:cNvPicPr>
            <a:picLocks noChangeAspect="1"/>
          </p:cNvPicPr>
          <p:nvPr/>
        </p:nvPicPr>
        <p:blipFill>
          <a:blip r:embed="rId3"/>
          <a:stretch/>
        </p:blipFill>
        <p:spPr>
          <a:xfrm>
            <a:off x="2286000" y="1466850"/>
            <a:ext cx="7620000" cy="952500"/>
          </a:xfrm>
          <a:prstGeom prst="rect">
            <a:avLst/>
          </a:prstGeom>
        </p:spPr>
      </p:pic>
      <p:sp>
        <p:nvSpPr>
          <p:cNvPr id="4" name="Rectangle 3">
            <a:extLst>
              <a:ext uri="{FF2B5EF4-FFF2-40B4-BE49-F238E27FC236}">
                <a16:creationId xmlns:a16="http://schemas.microsoft.com/office/drawing/2014/main" id="{C0E78EDE-6C26-4715-9BB5-B0CF4B1A85EF}"/>
              </a:ext>
            </a:extLst>
          </p:cNvPr>
          <p:cNvSpPr>
            <a:spLocks noGrp="1"/>
          </p:cNvSpPr>
          <p:nvPr/>
        </p:nvSpPr>
        <p:spPr>
          <a:xfrm>
            <a:off x="819150" y="2686050"/>
            <a:ext cx="10477500" cy="2790825"/>
          </a:xfrm>
          <a:prstGeom prst="rect">
            <a:avLst/>
          </a:prstGeom>
          <a:noFill/>
          <a:ln w="0">
            <a:noFill/>
            <a:prstDash val="solid"/>
          </a:ln>
        </p:spPr>
        <p:txBody>
          <a:bodyPr/>
          <a:lstStyle/>
          <a:p>
            <a:pPr algn="l">
              <a:defRPr sz="1388" b="0">
                <a:solidFill>
                  <a:srgbClr val="000000"/>
                </a:solidFill>
              </a:defRPr>
            </a:pPr>
            <a:r>
              <a:rPr sz="1388" b="0">
                <a:solidFill>
                  <a:srgbClr val="000000"/>
                </a:solidFill>
              </a:rPr>
              <a:t>Four observed cells forming a worker-by-firm rectangle eliminate the worker and firm components. Under rank one, the surviving double difference factors into a worker contrast times a firm contrast.</a:t>
            </a:r>
          </a:p>
          <a:p>
            <a:endParaRPr sz="1388" b="0">
              <a:solidFill>
                <a:srgbClr val="000000"/>
              </a:solidFill>
            </a:endParaRPr>
          </a:p>
          <a:p>
            <a:pPr algn="l">
              <a:defRPr sz="1388" b="0">
                <a:solidFill>
                  <a:srgbClr val="000000"/>
                </a:solidFill>
              </a:defRPr>
            </a:pPr>
            <a:r>
              <a:rPr sz="1388" b="0">
                <a:solidFill>
                  <a:srgbClr val="000000"/>
                </a:solidFill>
              </a:rPr>
              <a:t>Overlapping rectangles transmit these relative contrasts across the graph. Anchors and normalizations fix the usual factor scale, sign, and location indeterminacies; sparse or rectangle-poor regions remain weakly identified.</a:t>
            </a:r>
          </a:p>
        </p:txBody>
      </p:sp>
      <p:sp>
        <p:nvSpPr>
          <p:cNvPr id="5" name="Rectangle 4">
            <a:extLst>
              <a:ext uri="{FF2B5EF4-FFF2-40B4-BE49-F238E27FC236}">
                <a16:creationId xmlns:a16="http://schemas.microsoft.com/office/drawing/2014/main" id="{865E4650-6165-466F-AE91-CBEFD0D97527}"/>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485B4DF4-6345-4584-A808-D0A65F735CFD}"/>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But the paper does not need every factor or missing cell: it needs only invariance of the target functional.</a:t>
            </a:r>
          </a:p>
        </p:txBody>
      </p:sp>
      <p:sp>
        <p:nvSpPr>
          <p:cNvPr id="7" name="Rectangle 6">
            <a:extLst>
              <a:ext uri="{FF2B5EF4-FFF2-40B4-BE49-F238E27FC236}">
                <a16:creationId xmlns:a16="http://schemas.microsoft.com/office/drawing/2014/main" id="{92FC5BBA-CAD3-46E1-B380-252B5B4056AF}"/>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25-28, 44</a:t>
            </a:r>
          </a:p>
        </p:txBody>
      </p:sp>
      <p:sp>
        <p:nvSpPr>
          <p:cNvPr id="8" name="Rectangle 7">
            <a:extLst>
              <a:ext uri="{FF2B5EF4-FFF2-40B4-BE49-F238E27FC236}">
                <a16:creationId xmlns:a16="http://schemas.microsoft.com/office/drawing/2014/main" id="{4F56D014-AD85-491B-8DB1-3260C5E40B94}"/>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14</a:t>
            </a:r>
          </a:p>
        </p:txBody>
      </p:sp>
    </p:spTree>
    <p:extLst>
      <p:ext uri="{BB962C8B-B14F-4D97-AF65-F5344CB8AC3E}">
        <p14:creationId xmlns:p14="http://schemas.microsoft.com/office/powerpoint/2010/main" val="396030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741017-1EA6-4FB9-A916-D96EF65CA629}"/>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14 | IDENTIFY THE FUNCTIONAL</a:t>
            </a:r>
          </a:p>
        </p:txBody>
      </p:sp>
      <p:sp>
        <p:nvSpPr>
          <p:cNvPr id="2" name="Rectangle 1">
            <a:extLst>
              <a:ext uri="{FF2B5EF4-FFF2-40B4-BE49-F238E27FC236}">
                <a16:creationId xmlns:a16="http://schemas.microsoft.com/office/drawing/2014/main" id="{95B5D266-4B8E-42A9-A96A-C76D7641B12B}"/>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Target identification can hold even when full matrix completion fails</a:t>
            </a:r>
          </a:p>
        </p:txBody>
      </p:sp>
      <p:pic>
        <p:nvPicPr>
          <p:cNvPr id="11" name="Picture 10"/>
          <p:cNvPicPr>
            <a:picLocks noChangeAspect="1"/>
          </p:cNvPicPr>
          <p:nvPr/>
        </p:nvPicPr>
        <p:blipFill>
          <a:blip r:embed="rId3"/>
          <a:stretch/>
        </p:blipFill>
        <p:spPr>
          <a:xfrm>
            <a:off x="2667000" y="1466850"/>
            <a:ext cx="6858000" cy="857250"/>
          </a:xfrm>
          <a:prstGeom prst="rect">
            <a:avLst/>
          </a:prstGeom>
        </p:spPr>
      </p:pic>
      <p:sp>
        <p:nvSpPr>
          <p:cNvPr id="4" name="Rectangle 3">
            <a:extLst>
              <a:ext uri="{FF2B5EF4-FFF2-40B4-BE49-F238E27FC236}">
                <a16:creationId xmlns:a16="http://schemas.microsoft.com/office/drawing/2014/main" id="{81C46363-1A9B-4C65-A42A-E1334404FAA1}"/>
              </a:ext>
            </a:extLst>
          </p:cNvPr>
          <p:cNvSpPr>
            <a:spLocks noGrp="1"/>
          </p:cNvSpPr>
          <p:nvPr/>
        </p:nvSpPr>
        <p:spPr>
          <a:xfrm>
            <a:off x="819150" y="2590800"/>
            <a:ext cx="10477500" cy="2886075"/>
          </a:xfrm>
          <a:prstGeom prst="rect">
            <a:avLst/>
          </a:prstGeom>
          <a:noFill/>
          <a:ln w="0">
            <a:noFill/>
            <a:prstDash val="solid"/>
          </a:ln>
        </p:spPr>
        <p:txBody>
          <a:bodyPr/>
          <a:lstStyle/>
          <a:p>
            <a:pPr algn="l">
              <a:defRPr sz="1500" b="0">
                <a:solidFill>
                  <a:srgbClr val="000000"/>
                </a:solidFill>
              </a:defRPr>
            </a:pPr>
            <a:r>
              <a:rPr sz="1500" b="0">
                <a:solidFill>
                  <a:srgbClr val="000000"/>
                </a:solidFill>
              </a:rPr>
              <a:t>Full completion asks whether every missing wage cell is unique. Functional identification asks the weaker and economically relevant question displayed above.</a:t>
            </a:r>
          </a:p>
          <a:p>
            <a:endParaRPr sz="1500" b="0">
              <a:solidFill>
                <a:srgbClr val="000000"/>
              </a:solidFill>
            </a:endParaRPr>
          </a:p>
          <a:p>
            <a:pPr algn="l">
              <a:defRPr sz="1500" b="0">
                <a:solidFill>
                  <a:srgbClr val="000000"/>
                </a:solidFill>
              </a:defRPr>
            </a:pPr>
            <a:r>
              <a:rPr sz="1500" b="0">
                <a:solidFill>
                  <a:srgbClr val="000000"/>
                </a:solidFill>
              </a:rPr>
              <a:t>Locally, unidentified tangent directions must lie in null directions of the target's derivative and curvature. This reframes the graph condition around the scalar being reported rather than around arbitrary factor normalizations.</a:t>
            </a:r>
          </a:p>
        </p:txBody>
      </p:sp>
      <p:sp>
        <p:nvSpPr>
          <p:cNvPr id="5" name="Rectangle 4">
            <a:extLst>
              <a:ext uri="{FF2B5EF4-FFF2-40B4-BE49-F238E27FC236}">
                <a16:creationId xmlns:a16="http://schemas.microsoft.com/office/drawing/2014/main" id="{A200E892-236C-4F68-A6C4-ABE2AFFDB3AB}"/>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8914C46A-9584-4B87-90D6-F9B09210EAC1}"/>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Once the target is identified, estimation should be designed directly for that target rather than only for fitted cell means.</a:t>
            </a:r>
          </a:p>
        </p:txBody>
      </p:sp>
      <p:sp>
        <p:nvSpPr>
          <p:cNvPr id="7" name="Rectangle 6">
            <a:extLst>
              <a:ext uri="{FF2B5EF4-FFF2-40B4-BE49-F238E27FC236}">
                <a16:creationId xmlns:a16="http://schemas.microsoft.com/office/drawing/2014/main" id="{B6B89179-F79A-439A-B58D-69375DEB2380}"/>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 26; TeX Part II, low-rank identification</a:t>
            </a:r>
          </a:p>
        </p:txBody>
      </p:sp>
      <p:sp>
        <p:nvSpPr>
          <p:cNvPr id="8" name="Rectangle 7">
            <a:extLst>
              <a:ext uri="{FF2B5EF4-FFF2-40B4-BE49-F238E27FC236}">
                <a16:creationId xmlns:a16="http://schemas.microsoft.com/office/drawing/2014/main" id="{5EFB803A-729B-4961-90C7-2DAD81AD8550}"/>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15</a:t>
            </a:r>
          </a:p>
        </p:txBody>
      </p:sp>
    </p:spTree>
    <p:extLst>
      <p:ext uri="{BB962C8B-B14F-4D97-AF65-F5344CB8AC3E}">
        <p14:creationId xmlns:p14="http://schemas.microsoft.com/office/powerpoint/2010/main" val="1617522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0997FC-1595-4E1A-83EB-598B90D4898A}"/>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15 | ESTIMATE THE SCHEDULE</a:t>
            </a:r>
          </a:p>
        </p:txBody>
      </p:sp>
      <p:sp>
        <p:nvSpPr>
          <p:cNvPr id="2" name="Rectangle 1">
            <a:extLst>
              <a:ext uri="{FF2B5EF4-FFF2-40B4-BE49-F238E27FC236}">
                <a16:creationId xmlns:a16="http://schemas.microsoft.com/office/drawing/2014/main" id="{27190DB9-15CD-46F4-8B90-768B6077D16D}"/>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Weighted low-rank least squares supplies fitted cells, but the estimands are quadratic operators</a:t>
            </a:r>
          </a:p>
        </p:txBody>
      </p:sp>
      <p:pic>
        <p:nvPicPr>
          <p:cNvPr id="11" name="Picture 10"/>
          <p:cNvPicPr>
            <a:picLocks noChangeAspect="1"/>
          </p:cNvPicPr>
          <p:nvPr/>
        </p:nvPicPr>
        <p:blipFill>
          <a:blip r:embed="rId3"/>
          <a:stretch/>
        </p:blipFill>
        <p:spPr>
          <a:xfrm>
            <a:off x="1981200" y="1466850"/>
            <a:ext cx="8229600" cy="1028700"/>
          </a:xfrm>
          <a:prstGeom prst="rect">
            <a:avLst/>
          </a:prstGeom>
        </p:spPr>
      </p:pic>
      <p:sp>
        <p:nvSpPr>
          <p:cNvPr id="4" name="Rectangle 3">
            <a:extLst>
              <a:ext uri="{FF2B5EF4-FFF2-40B4-BE49-F238E27FC236}">
                <a16:creationId xmlns:a16="http://schemas.microsoft.com/office/drawing/2014/main" id="{06EBB1D8-BE4B-4C1B-9763-3969FCC70546}"/>
              </a:ext>
            </a:extLst>
          </p:cNvPr>
          <p:cNvSpPr>
            <a:spLocks noGrp="1"/>
          </p:cNvSpPr>
          <p:nvPr/>
        </p:nvSpPr>
        <p:spPr>
          <a:xfrm>
            <a:off x="819150" y="2762250"/>
            <a:ext cx="10477500" cy="2714625"/>
          </a:xfrm>
          <a:prstGeom prst="rect">
            <a:avLst/>
          </a:prstGeom>
          <a:noFill/>
          <a:ln w="0">
            <a:noFill/>
            <a:prstDash val="solid"/>
          </a:ln>
        </p:spPr>
        <p:txBody>
          <a:bodyPr/>
          <a:lstStyle/>
          <a:p>
            <a:pPr algn="l">
              <a:defRPr sz="1425" b="0">
                <a:solidFill>
                  <a:srgbClr val="000000"/>
                </a:solidFill>
              </a:defRPr>
            </a:pPr>
            <a:r>
              <a:rPr sz="1425" b="0">
                <a:solidFill>
                  <a:srgbClr val="000000"/>
                </a:solidFill>
              </a:rPr>
              <a:t>Cell means are fit on observed edges using exposure weights and a fixed interaction rank. The four economic targets are then linear or quadratic functionals of the fitted schedule under the declared reference measures.</a:t>
            </a:r>
          </a:p>
          <a:p>
            <a:endParaRPr sz="1425" b="0">
              <a:solidFill>
                <a:srgbClr val="000000"/>
              </a:solidFill>
            </a:endParaRPr>
          </a:p>
          <a:p>
            <a:pPr algn="l">
              <a:defRPr sz="1425" b="0">
                <a:solidFill>
                  <a:srgbClr val="000000"/>
                </a:solidFill>
              </a:defRPr>
            </a:pPr>
            <a:r>
              <a:rPr sz="1425" b="0">
                <a:solidFill>
                  <a:srgbClr val="000000"/>
                </a:solidFill>
              </a:rPr>
              <a:t>This distinction matters: an estimator with acceptable prediction error can still have material bias for a quadratic variance or covariance target.</a:t>
            </a:r>
          </a:p>
        </p:txBody>
      </p:sp>
      <p:sp>
        <p:nvSpPr>
          <p:cNvPr id="5" name="Rectangle 4">
            <a:extLst>
              <a:ext uri="{FF2B5EF4-FFF2-40B4-BE49-F238E27FC236}">
                <a16:creationId xmlns:a16="http://schemas.microsoft.com/office/drawing/2014/main" id="{D32FA07A-476A-4D46-A962-4594F896A814}"/>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6E48555F-81C7-4BA7-837E-EAD1FA031EDF}"/>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 source of that bias appears immediately when the fitted schedule is substituted into a quadratic form.</a:t>
            </a:r>
          </a:p>
        </p:txBody>
      </p:sp>
      <p:sp>
        <p:nvSpPr>
          <p:cNvPr id="7" name="Rectangle 6">
            <a:extLst>
              <a:ext uri="{FF2B5EF4-FFF2-40B4-BE49-F238E27FC236}">
                <a16:creationId xmlns:a16="http://schemas.microsoft.com/office/drawing/2014/main" id="{83E0BCFA-1F88-458A-B2BE-4EB033387CDB}"/>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28-31; Appendix J</a:t>
            </a:r>
          </a:p>
        </p:txBody>
      </p:sp>
      <p:sp>
        <p:nvSpPr>
          <p:cNvPr id="8" name="Rectangle 7">
            <a:extLst>
              <a:ext uri="{FF2B5EF4-FFF2-40B4-BE49-F238E27FC236}">
                <a16:creationId xmlns:a16="http://schemas.microsoft.com/office/drawing/2014/main" id="{669EC215-2AF1-43E5-B464-91F64B4F24A0}"/>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16</a:t>
            </a:r>
          </a:p>
        </p:txBody>
      </p:sp>
    </p:spTree>
    <p:extLst>
      <p:ext uri="{BB962C8B-B14F-4D97-AF65-F5344CB8AC3E}">
        <p14:creationId xmlns:p14="http://schemas.microsoft.com/office/powerpoint/2010/main" val="344641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0596D3-5282-4A34-90A7-6A940EFC4671}"/>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16 | CORRECT QUADRATIC PLUG-IN BIAS</a:t>
            </a:r>
          </a:p>
        </p:txBody>
      </p:sp>
      <p:sp>
        <p:nvSpPr>
          <p:cNvPr id="2" name="Rectangle 1">
            <a:extLst>
              <a:ext uri="{FF2B5EF4-FFF2-40B4-BE49-F238E27FC236}">
                <a16:creationId xmlns:a16="http://schemas.microsoft.com/office/drawing/2014/main" id="{C8D0B553-54F3-4588-A066-21EF27AFF692}"/>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Estimation noise contributes its own positive quadratic term</a:t>
            </a:r>
          </a:p>
        </p:txBody>
      </p:sp>
      <p:pic>
        <p:nvPicPr>
          <p:cNvPr id="11" name="Picture 10"/>
          <p:cNvPicPr>
            <a:picLocks noChangeAspect="1"/>
          </p:cNvPicPr>
          <p:nvPr/>
        </p:nvPicPr>
        <p:blipFill>
          <a:blip r:embed="rId3"/>
          <a:stretch/>
        </p:blipFill>
        <p:spPr>
          <a:xfrm>
            <a:off x="2362200" y="1466850"/>
            <a:ext cx="7467600" cy="933450"/>
          </a:xfrm>
          <a:prstGeom prst="rect">
            <a:avLst/>
          </a:prstGeom>
        </p:spPr>
      </p:pic>
      <p:sp>
        <p:nvSpPr>
          <p:cNvPr id="4" name="Rectangle 3">
            <a:extLst>
              <a:ext uri="{FF2B5EF4-FFF2-40B4-BE49-F238E27FC236}">
                <a16:creationId xmlns:a16="http://schemas.microsoft.com/office/drawing/2014/main" id="{464BB5CA-C6F5-49E2-907E-2376C318234B}"/>
              </a:ext>
            </a:extLst>
          </p:cNvPr>
          <p:cNvSpPr>
            <a:spLocks noGrp="1"/>
          </p:cNvSpPr>
          <p:nvPr/>
        </p:nvSpPr>
        <p:spPr>
          <a:xfrm>
            <a:off x="819150" y="2667000"/>
            <a:ext cx="10477500" cy="2809875"/>
          </a:xfrm>
          <a:prstGeom prst="rect">
            <a:avLst/>
          </a:prstGeom>
          <a:noFill/>
          <a:ln w="0">
            <a:noFill/>
            <a:prstDash val="solid"/>
          </a:ln>
        </p:spPr>
        <p:txBody>
          <a:bodyPr/>
          <a:lstStyle/>
          <a:p>
            <a:pPr algn="l">
              <a:defRPr sz="1388" b="0">
                <a:solidFill>
                  <a:srgbClr val="000000"/>
                </a:solidFill>
              </a:defRPr>
            </a:pPr>
            <a:r>
              <a:rPr sz="1388" b="0">
                <a:solidFill>
                  <a:srgbClr val="000000"/>
                </a:solidFill>
              </a:rPr>
              <a:t>Sparse graphs create many noisy local worker, firm, and factor estimates. Even if the first-order term averages out, the noise quadratic need not vanish and can mimic genuine dispersion. This is the nonadditive analogue of limited-mobility bias.</a:t>
            </a:r>
          </a:p>
          <a:p>
            <a:endParaRPr sz="1388" b="0">
              <a:solidFill>
                <a:srgbClr val="000000"/>
              </a:solidFill>
            </a:endParaRPr>
          </a:p>
          <a:p>
            <a:pPr algn="l">
              <a:defRPr sz="1388" b="0">
                <a:solidFill>
                  <a:srgbClr val="000000"/>
                </a:solidFill>
              </a:defRPr>
            </a:pPr>
            <a:r>
              <a:rPr sz="1388" b="0">
                <a:solidFill>
                  <a:srgbClr val="000000"/>
                </a:solidFill>
              </a:rPr>
              <a:t>A leave-worker-out or cavity construction estimates the relevant firm-side object without worker i and evaluates that worker against an object less mechanically correlated with the worker's noise.</a:t>
            </a:r>
          </a:p>
        </p:txBody>
      </p:sp>
      <p:sp>
        <p:nvSpPr>
          <p:cNvPr id="5" name="Rectangle 4">
            <a:extLst>
              <a:ext uri="{FF2B5EF4-FFF2-40B4-BE49-F238E27FC236}">
                <a16:creationId xmlns:a16="http://schemas.microsoft.com/office/drawing/2014/main" id="{904DAB2A-95FE-4202-8A3F-85745D00DA15}"/>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2D93F411-3872-4426-8AB0-43A39D6E6EA3}"/>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A complete theorem must show that this correction works for aggregate targets under a growing sparse graph.</a:t>
            </a:r>
          </a:p>
        </p:txBody>
      </p:sp>
      <p:sp>
        <p:nvSpPr>
          <p:cNvPr id="7" name="Rectangle 6">
            <a:extLst>
              <a:ext uri="{FF2B5EF4-FFF2-40B4-BE49-F238E27FC236}">
                <a16:creationId xmlns:a16="http://schemas.microsoft.com/office/drawing/2014/main" id="{84878EAA-73A2-425F-B122-5D5078171651}"/>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28-34, 46-47</a:t>
            </a:r>
          </a:p>
        </p:txBody>
      </p:sp>
      <p:sp>
        <p:nvSpPr>
          <p:cNvPr id="8" name="Rectangle 7">
            <a:extLst>
              <a:ext uri="{FF2B5EF4-FFF2-40B4-BE49-F238E27FC236}">
                <a16:creationId xmlns:a16="http://schemas.microsoft.com/office/drawing/2014/main" id="{CA34F73A-7F09-4283-8863-3A98D9E24362}"/>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17</a:t>
            </a:r>
          </a:p>
        </p:txBody>
      </p:sp>
    </p:spTree>
    <p:extLst>
      <p:ext uri="{BB962C8B-B14F-4D97-AF65-F5344CB8AC3E}">
        <p14:creationId xmlns:p14="http://schemas.microsoft.com/office/powerpoint/2010/main" val="1456501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BD9EA0E-B898-4EA3-9129-7EC1CDF450CF}"/>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17 | FORMULATE THE INFERENCE TARGET</a:t>
            </a:r>
          </a:p>
        </p:txBody>
      </p:sp>
      <p:sp>
        <p:nvSpPr>
          <p:cNvPr id="2" name="Rectangle 1">
            <a:extLst>
              <a:ext uri="{FF2B5EF4-FFF2-40B4-BE49-F238E27FC236}">
                <a16:creationId xmlns:a16="http://schemas.microsoft.com/office/drawing/2014/main" id="{2ABD0E97-3FBA-42E6-91F0-726D5688EBF6}"/>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Consistency is required for aggregate functionals, not for every latent effect</a:t>
            </a:r>
          </a:p>
        </p:txBody>
      </p:sp>
      <p:pic>
        <p:nvPicPr>
          <p:cNvPr id="11" name="Picture 10"/>
          <p:cNvPicPr>
            <a:picLocks noChangeAspect="1"/>
          </p:cNvPicPr>
          <p:nvPr/>
        </p:nvPicPr>
        <p:blipFill>
          <a:blip r:embed="rId3"/>
          <a:stretch/>
        </p:blipFill>
        <p:spPr>
          <a:xfrm>
            <a:off x="2362200" y="1466850"/>
            <a:ext cx="7467600" cy="933450"/>
          </a:xfrm>
          <a:prstGeom prst="rect">
            <a:avLst/>
          </a:prstGeom>
        </p:spPr>
      </p:pic>
      <p:sp>
        <p:nvSpPr>
          <p:cNvPr id="4" name="Rectangle 3">
            <a:extLst>
              <a:ext uri="{FF2B5EF4-FFF2-40B4-BE49-F238E27FC236}">
                <a16:creationId xmlns:a16="http://schemas.microsoft.com/office/drawing/2014/main" id="{0A5D52EF-2CC6-4B78-9865-BD8266C147EB}"/>
              </a:ext>
            </a:extLst>
          </p:cNvPr>
          <p:cNvSpPr>
            <a:spLocks noGrp="1"/>
          </p:cNvSpPr>
          <p:nvPr/>
        </p:nvSpPr>
        <p:spPr>
          <a:xfrm>
            <a:off x="819150" y="2667000"/>
            <a:ext cx="10477500" cy="2809875"/>
          </a:xfrm>
          <a:prstGeom prst="rect">
            <a:avLst/>
          </a:prstGeom>
          <a:noFill/>
          <a:ln w="0">
            <a:noFill/>
            <a:prstDash val="solid"/>
          </a:ln>
        </p:spPr>
        <p:txBody>
          <a:bodyPr/>
          <a:lstStyle/>
          <a:p>
            <a:pPr algn="l">
              <a:defRPr sz="1388" b="0">
                <a:solidFill>
                  <a:srgbClr val="000000"/>
                </a:solidFill>
              </a:defRPr>
            </a:pPr>
            <a:r>
              <a:rPr sz="1388" b="0">
                <a:solidFill>
                  <a:srgbClr val="000000"/>
                </a:solidFill>
              </a:rPr>
              <a:t>The relevant asymptotic sequence grows workers, firms, and observed edges together. Individual factors may remain noisy; the bias-corrected aggregate can still be consistent if leverage is controlled and support propagates enough information for the target.</a:t>
            </a:r>
          </a:p>
          <a:p>
            <a:endParaRPr sz="1388" b="0">
              <a:solidFill>
                <a:srgbClr val="000000"/>
              </a:solidFill>
            </a:endParaRPr>
          </a:p>
          <a:p>
            <a:pPr algn="l">
              <a:defRPr sz="1388" b="0">
                <a:solidFill>
                  <a:srgbClr val="000000"/>
                </a:solidFill>
              </a:defRPr>
            </a:pPr>
            <a:r>
              <a:rPr sz="1388" b="0">
                <a:solidFill>
                  <a:srgbClr val="000000"/>
                </a:solidFill>
              </a:rPr>
              <a:t>Weak anchors, scarce rectangles, and high-leverage cells are therefore part of the inferential assumptions, not merely descriptive graph statistics. Rank uncertainty must also enter sensitivity analysis.</a:t>
            </a:r>
          </a:p>
        </p:txBody>
      </p:sp>
      <p:sp>
        <p:nvSpPr>
          <p:cNvPr id="5" name="Rectangle 4">
            <a:extLst>
              <a:ext uri="{FF2B5EF4-FFF2-40B4-BE49-F238E27FC236}">
                <a16:creationId xmlns:a16="http://schemas.microsoft.com/office/drawing/2014/main" id="{68E4A355-C1C3-454F-8FEF-C8244B096579}"/>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38375FC9-DE0F-4244-8E61-93304C1AB37A}"/>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 simulation and empirical design should directly stress these theorem conditions and report the four economic targets.</a:t>
            </a:r>
          </a:p>
        </p:txBody>
      </p:sp>
      <p:sp>
        <p:nvSpPr>
          <p:cNvPr id="7" name="Rectangle 6">
            <a:extLst>
              <a:ext uri="{FF2B5EF4-FFF2-40B4-BE49-F238E27FC236}">
                <a16:creationId xmlns:a16="http://schemas.microsoft.com/office/drawing/2014/main" id="{E43225E0-C670-4F4A-A877-13B7A73BC199}"/>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31-37</a:t>
            </a:r>
          </a:p>
        </p:txBody>
      </p:sp>
      <p:sp>
        <p:nvSpPr>
          <p:cNvPr id="8" name="Rectangle 7">
            <a:extLst>
              <a:ext uri="{FF2B5EF4-FFF2-40B4-BE49-F238E27FC236}">
                <a16:creationId xmlns:a16="http://schemas.microsoft.com/office/drawing/2014/main" id="{5A114F0A-9650-4A9B-A30C-49BBCD40840F}"/>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18</a:t>
            </a:r>
          </a:p>
        </p:txBody>
      </p:sp>
    </p:spTree>
    <p:extLst>
      <p:ext uri="{BB962C8B-B14F-4D97-AF65-F5344CB8AC3E}">
        <p14:creationId xmlns:p14="http://schemas.microsoft.com/office/powerpoint/2010/main" val="1585410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A9F2A38-5ECD-4A97-A6CA-6AD516628EBB}"/>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18 | MAKE THE DESIGNS DIAGNOSTIC</a:t>
            </a:r>
          </a:p>
        </p:txBody>
      </p:sp>
      <p:sp>
        <p:nvSpPr>
          <p:cNvPr id="2" name="Rectangle 1">
            <a:extLst>
              <a:ext uri="{FF2B5EF4-FFF2-40B4-BE49-F238E27FC236}">
                <a16:creationId xmlns:a16="http://schemas.microsoft.com/office/drawing/2014/main" id="{8D7E95E4-7E0E-4A0C-A96A-B6698E2B1134}"/>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Monte Carlo and empirical work should test recoverability, not only fit</a:t>
            </a:r>
          </a:p>
        </p:txBody>
      </p:sp>
      <p:sp>
        <p:nvSpPr>
          <p:cNvPr id="3" name="Rectangle 2">
            <a:extLst>
              <a:ext uri="{FF2B5EF4-FFF2-40B4-BE49-F238E27FC236}">
                <a16:creationId xmlns:a16="http://schemas.microsoft.com/office/drawing/2014/main" id="{CAAA5F47-C931-4F28-9245-E5B8DF8B944B}"/>
              </a:ext>
            </a:extLst>
          </p:cNvPr>
          <p:cNvSpPr>
            <a:spLocks noGrp="1"/>
          </p:cNvSpPr>
          <p:nvPr/>
        </p:nvSpPr>
        <p:spPr>
          <a:xfrm>
            <a:off x="819150" y="1619250"/>
            <a:ext cx="10477500" cy="3857625"/>
          </a:xfrm>
          <a:prstGeom prst="rect">
            <a:avLst/>
          </a:prstGeom>
          <a:noFill/>
          <a:ln w="0">
            <a:noFill/>
            <a:prstDash val="solid"/>
          </a:ln>
        </p:spPr>
        <p:txBody>
          <a:bodyPr/>
          <a:lstStyle/>
          <a:p>
            <a:pPr algn="l">
              <a:defRPr sz="1500" b="0">
                <a:solidFill>
                  <a:srgbClr val="000000"/>
                </a:solidFill>
              </a:defRPr>
            </a:pPr>
            <a:r>
              <a:rPr sz="1500" b="0">
                <a:solidFill>
                  <a:srgbClr val="000000"/>
                </a:solidFill>
              </a:rPr>
              <a:t>Monte Carlo varies three ingredients jointly: the true interaction structure, assignment on common versus match-specific components, and graph support ranging from rectangle-rich to weakly anchored. It reports bias, RMSE, and coverage for each economic functional under rank misspecification.</a:t>
            </a:r>
          </a:p>
          <a:p>
            <a:endParaRPr sz="1500" b="0">
              <a:solidFill>
                <a:srgbClr val="000000"/>
              </a:solidFill>
            </a:endParaRPr>
          </a:p>
          <a:p>
            <a:pPr algn="l">
              <a:defRPr sz="1500" b="0">
                <a:solidFill>
                  <a:srgbClr val="000000"/>
                </a:solidFill>
              </a:defRPr>
            </a:pPr>
            <a:r>
              <a:rPr sz="1500" b="0">
                <a:solidFill>
                  <a:srgbClr val="000000"/>
                </a:solidFill>
              </a:rPr>
              <a:t>The empirical application reports the firm-dispersion split, all four assignment channels, and support diagnostics including edge density, rectangle density, anchor strength, and target leverage.</a:t>
            </a:r>
          </a:p>
        </p:txBody>
      </p:sp>
      <p:sp>
        <p:nvSpPr>
          <p:cNvPr id="4" name="Rectangle 3">
            <a:extLst>
              <a:ext uri="{FF2B5EF4-FFF2-40B4-BE49-F238E27FC236}">
                <a16:creationId xmlns:a16="http://schemas.microsoft.com/office/drawing/2014/main" id="{9063D738-85E5-44B5-BE2B-802BCF905995}"/>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5" name="Rectangle 4">
            <a:extLst>
              <a:ext uri="{FF2B5EF4-FFF2-40B4-BE49-F238E27FC236}">
                <a16:creationId xmlns:a16="http://schemas.microsoft.com/office/drawing/2014/main" id="{6511D920-B657-4798-9CDD-EA53AF8AD86A}"/>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These reporting choices also clarify how the contribution differs from adjacent literatures that restrict different objects.</a:t>
            </a:r>
          </a:p>
        </p:txBody>
      </p:sp>
      <p:sp>
        <p:nvSpPr>
          <p:cNvPr id="6" name="Rectangle 5">
            <a:extLst>
              <a:ext uri="{FF2B5EF4-FFF2-40B4-BE49-F238E27FC236}">
                <a16:creationId xmlns:a16="http://schemas.microsoft.com/office/drawing/2014/main" id="{937267B4-CF9C-4FA5-9335-56C317C330FC}"/>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37-41</a:t>
            </a:r>
          </a:p>
        </p:txBody>
      </p:sp>
      <p:sp>
        <p:nvSpPr>
          <p:cNvPr id="7" name="Rectangle 6">
            <a:extLst>
              <a:ext uri="{FF2B5EF4-FFF2-40B4-BE49-F238E27FC236}">
                <a16:creationId xmlns:a16="http://schemas.microsoft.com/office/drawing/2014/main" id="{B161B36E-D3A3-41F0-B42A-5AF2FA42B7EA}"/>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19</a:t>
            </a:r>
          </a:p>
        </p:txBody>
      </p:sp>
    </p:spTree>
    <p:extLst>
      <p:ext uri="{BB962C8B-B14F-4D97-AF65-F5344CB8AC3E}">
        <p14:creationId xmlns:p14="http://schemas.microsoft.com/office/powerpoint/2010/main" val="1605651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5F8A8F-4F91-4359-AAF0-23142584AA27}"/>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STEP 19 | LOCATE THE CONTRIBUTION</a:t>
            </a:r>
          </a:p>
        </p:txBody>
      </p:sp>
      <p:sp>
        <p:nvSpPr>
          <p:cNvPr id="2" name="Rectangle 1">
            <a:extLst>
              <a:ext uri="{FF2B5EF4-FFF2-40B4-BE49-F238E27FC236}">
                <a16:creationId xmlns:a16="http://schemas.microsoft.com/office/drawing/2014/main" id="{4374CC0D-6AB8-4F4B-A109-DC1D25C568EB}"/>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The adjacent literatures differ in the object they restrict</a:t>
            </a:r>
          </a:p>
        </p:txBody>
      </p:sp>
      <p:sp>
        <p:nvSpPr>
          <p:cNvPr id="3" name="Rectangle 2">
            <a:extLst>
              <a:ext uri="{FF2B5EF4-FFF2-40B4-BE49-F238E27FC236}">
                <a16:creationId xmlns:a16="http://schemas.microsoft.com/office/drawing/2014/main" id="{29BD6778-D54A-4C0A-8BB5-70E7BA6BCA62}"/>
              </a:ext>
            </a:extLst>
          </p:cNvPr>
          <p:cNvSpPr>
            <a:spLocks noGrp="1"/>
          </p:cNvSpPr>
          <p:nvPr/>
        </p:nvSpPr>
        <p:spPr>
          <a:xfrm>
            <a:off x="819150" y="1619250"/>
            <a:ext cx="10477500" cy="3857625"/>
          </a:xfrm>
          <a:prstGeom prst="rect">
            <a:avLst/>
          </a:prstGeom>
          <a:noFill/>
          <a:ln w="0">
            <a:noFill/>
            <a:prstDash val="solid"/>
          </a:ln>
        </p:spPr>
        <p:txBody>
          <a:bodyPr/>
          <a:lstStyle/>
          <a:p>
            <a:pPr algn="l">
              <a:defRPr sz="1425" b="0">
                <a:solidFill>
                  <a:srgbClr val="000000"/>
                </a:solidFill>
              </a:defRPr>
            </a:pPr>
            <a:r>
              <a:rPr sz="1425" b="0">
                <a:solidFill>
                  <a:srgbClr val="000000"/>
                </a:solidFill>
              </a:rPr>
              <a:t>Kline and KSS characterize restrictions and bias for additive mover-edge effects; this note studies level functionals of a pairwise wage schedule. BLM's grouped mean layer motivates low-rank double demeaning, but complete BLM also models type probabilities and wage distributions.</a:t>
            </a:r>
          </a:p>
          <a:p>
            <a:endParaRPr sz="1425" b="0">
              <a:solidFill>
                <a:srgbClr val="000000"/>
              </a:solidFill>
            </a:endParaRPr>
          </a:p>
          <a:p>
            <a:pPr algn="l">
              <a:defRPr sz="1425" b="0">
                <a:solidFill>
                  <a:srgbClr val="000000"/>
                </a:solidFill>
              </a:defRPr>
            </a:pPr>
            <a:r>
              <a:rPr sz="1425" b="0">
                <a:solidFill>
                  <a:srgbClr val="000000"/>
                </a:solidFill>
              </a:rPr>
              <a:t>Event-study diagnostics can validate restrictions on mover dynamics without eliminating nonadditive wage levels. Search and Roy models explain selected matches, but wage-schedule sorting alone does not identify production complementarity or surplus.</a:t>
            </a:r>
          </a:p>
        </p:txBody>
      </p:sp>
      <p:sp>
        <p:nvSpPr>
          <p:cNvPr id="4" name="Rectangle 3">
            <a:extLst>
              <a:ext uri="{FF2B5EF4-FFF2-40B4-BE49-F238E27FC236}">
                <a16:creationId xmlns:a16="http://schemas.microsoft.com/office/drawing/2014/main" id="{5E03DBBA-31F7-4969-A164-897B5FDD5B77}"/>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5" name="Rectangle 4">
            <a:extLst>
              <a:ext uri="{FF2B5EF4-FFF2-40B4-BE49-F238E27FC236}">
                <a16:creationId xmlns:a16="http://schemas.microsoft.com/office/drawing/2014/main" id="{D11BD63A-0E3C-4860-BBB8-3D617D900F32}"/>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Taken together, these comparisons leave a precise first-paper contribution and a precise remaining theorem agenda.</a:t>
            </a:r>
          </a:p>
        </p:txBody>
      </p:sp>
      <p:sp>
        <p:nvSpPr>
          <p:cNvPr id="6" name="Rectangle 5">
            <a:extLst>
              <a:ext uri="{FF2B5EF4-FFF2-40B4-BE49-F238E27FC236}">
                <a16:creationId xmlns:a16="http://schemas.microsoft.com/office/drawing/2014/main" id="{089BA3B2-6891-470F-9457-1BF663CCAD6E}"/>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pp. 41-44; merged TeX Parts I-II</a:t>
            </a:r>
          </a:p>
        </p:txBody>
      </p:sp>
      <p:sp>
        <p:nvSpPr>
          <p:cNvPr id="7" name="Rectangle 6">
            <a:extLst>
              <a:ext uri="{FF2B5EF4-FFF2-40B4-BE49-F238E27FC236}">
                <a16:creationId xmlns:a16="http://schemas.microsoft.com/office/drawing/2014/main" id="{8EAD8994-288B-46D4-83A5-AF8C09FD5571}"/>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20</a:t>
            </a:r>
          </a:p>
        </p:txBody>
      </p:sp>
    </p:spTree>
    <p:extLst>
      <p:ext uri="{BB962C8B-B14F-4D97-AF65-F5344CB8AC3E}">
        <p14:creationId xmlns:p14="http://schemas.microsoft.com/office/powerpoint/2010/main" val="269669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F94CB0F-9B77-4326-9626-04A3BDE68FF4}"/>
              </a:ext>
            </a:extLst>
          </p:cNvPr>
          <p:cNvSpPr>
            <a:spLocks noGrp="1"/>
          </p:cNvSpPr>
          <p:nvPr/>
        </p:nvSpPr>
        <p:spPr>
          <a:xfrm>
            <a:off x="685800" y="361950"/>
            <a:ext cx="10287000" cy="190500"/>
          </a:xfrm>
          <a:prstGeom prst="rect">
            <a:avLst/>
          </a:prstGeom>
          <a:noFill/>
          <a:ln w="0">
            <a:noFill/>
            <a:prstDash val="solid"/>
          </a:ln>
        </p:spPr>
        <p:txBody>
          <a:bodyPr/>
          <a:lstStyle/>
          <a:p>
            <a:pPr algn="l">
              <a:defRPr sz="900" b="1">
                <a:solidFill>
                  <a:srgbClr val="666666"/>
                </a:solidFill>
              </a:defRPr>
            </a:pPr>
            <a:r>
              <a:rPr sz="900" b="1">
                <a:solidFill>
                  <a:srgbClr val="666666"/>
                </a:solidFill>
              </a:rPr>
              <a:t>CONCLUSION | WHAT THE PAPER ADDS</a:t>
            </a:r>
          </a:p>
        </p:txBody>
      </p:sp>
      <p:sp>
        <p:nvSpPr>
          <p:cNvPr id="2" name="Rectangle 1">
            <a:extLst>
              <a:ext uri="{FF2B5EF4-FFF2-40B4-BE49-F238E27FC236}">
                <a16:creationId xmlns:a16="http://schemas.microsoft.com/office/drawing/2014/main" id="{B83234DE-B6EB-41B7-B88D-C388F077FDD2}"/>
              </a:ext>
            </a:extLst>
          </p:cNvPr>
          <p:cNvSpPr>
            <a:spLocks noGrp="1"/>
          </p:cNvSpPr>
          <p:nvPr/>
        </p:nvSpPr>
        <p:spPr>
          <a:xfrm>
            <a:off x="685800" y="685800"/>
            <a:ext cx="10820400" cy="666750"/>
          </a:xfrm>
          <a:prstGeom prst="rect">
            <a:avLst/>
          </a:prstGeom>
          <a:noFill/>
          <a:ln w="0">
            <a:noFill/>
            <a:prstDash val="solid"/>
          </a:ln>
        </p:spPr>
        <p:txBody>
          <a:bodyPr/>
          <a:lstStyle/>
          <a:p>
            <a:pPr algn="l">
              <a:defRPr sz="2550" b="1">
                <a:solidFill>
                  <a:srgbClr val="000000"/>
                </a:solidFill>
              </a:defRPr>
            </a:pPr>
            <a:r>
              <a:rPr sz="2550" b="1">
                <a:solidFill>
                  <a:srgbClr val="000000"/>
                </a:solidFill>
              </a:rPr>
              <a:t>The paper replaces coefficient interpretation with identified wage-schedule functionals</a:t>
            </a:r>
          </a:p>
        </p:txBody>
      </p:sp>
      <p:pic>
        <p:nvPicPr>
          <p:cNvPr id="11" name="Picture 10"/>
          <p:cNvPicPr>
            <a:picLocks noChangeAspect="1"/>
          </p:cNvPicPr>
          <p:nvPr/>
        </p:nvPicPr>
        <p:blipFill>
          <a:blip r:embed="rId3"/>
          <a:stretch/>
        </p:blipFill>
        <p:spPr>
          <a:xfrm>
            <a:off x="2362200" y="1466850"/>
            <a:ext cx="7467600" cy="933450"/>
          </a:xfrm>
          <a:prstGeom prst="rect">
            <a:avLst/>
          </a:prstGeom>
        </p:spPr>
      </p:pic>
      <p:sp>
        <p:nvSpPr>
          <p:cNvPr id="4" name="Rectangle 3">
            <a:extLst>
              <a:ext uri="{FF2B5EF4-FFF2-40B4-BE49-F238E27FC236}">
                <a16:creationId xmlns:a16="http://schemas.microsoft.com/office/drawing/2014/main" id="{E7C4AFCF-E623-48AE-88EF-19BBF155ABF2}"/>
              </a:ext>
            </a:extLst>
          </p:cNvPr>
          <p:cNvSpPr>
            <a:spLocks noGrp="1"/>
          </p:cNvSpPr>
          <p:nvPr/>
        </p:nvSpPr>
        <p:spPr>
          <a:xfrm>
            <a:off x="819150" y="2667000"/>
            <a:ext cx="10477500" cy="2809875"/>
          </a:xfrm>
          <a:prstGeom prst="rect">
            <a:avLst/>
          </a:prstGeom>
          <a:noFill/>
          <a:ln w="0">
            <a:noFill/>
            <a:prstDash val="solid"/>
          </a:ln>
        </p:spPr>
        <p:txBody>
          <a:bodyPr/>
          <a:lstStyle/>
          <a:p>
            <a:pPr algn="l">
              <a:defRPr sz="1388" b="0">
                <a:solidFill>
                  <a:srgbClr val="000000"/>
                </a:solidFill>
              </a:defRPr>
            </a:pPr>
            <a:r>
              <a:rPr sz="1388" b="0">
                <a:solidFill>
                  <a:srgbClr val="000000"/>
                </a:solidFill>
              </a:rPr>
              <a:t>The conceptual result is the displayed identity: total firm wage relevance separates into a common firm ladder and worker-specific firm-gap dispersion. The assignment decomposition then shows exactly how matching can operate through both components.</a:t>
            </a:r>
          </a:p>
          <a:p>
            <a:endParaRPr sz="1388" b="0">
              <a:solidFill>
                <a:srgbClr val="000000"/>
              </a:solidFill>
            </a:endParaRPr>
          </a:p>
          <a:p>
            <a:pPr algn="l">
              <a:defRPr sz="1388" b="0">
                <a:solidFill>
                  <a:srgbClr val="000000"/>
                </a:solidFill>
              </a:defRPr>
            </a:pPr>
            <a:r>
              <a:rPr sz="1388" b="0">
                <a:solidFill>
                  <a:srgbClr val="000000"/>
                </a:solidFill>
              </a:rPr>
              <a:t>The econometric result is a roadmap: unrestricted sparse support cannot identify the cardinal quadratic targets; low-rank interaction structure can make the relevant functionals invariant; leave-out methods must then remove graph-induced quadratic bias. The remaining burden is a target-specific identification and inference theorem.</a:t>
            </a:r>
          </a:p>
        </p:txBody>
      </p:sp>
      <p:sp>
        <p:nvSpPr>
          <p:cNvPr id="5" name="Rectangle 4">
            <a:extLst>
              <a:ext uri="{FF2B5EF4-FFF2-40B4-BE49-F238E27FC236}">
                <a16:creationId xmlns:a16="http://schemas.microsoft.com/office/drawing/2014/main" id="{8E3505A2-F7D8-40C1-8561-A37470B1FC91}"/>
              </a:ext>
            </a:extLst>
          </p:cNvPr>
          <p:cNvSpPr>
            <a:spLocks noGrp="1"/>
          </p:cNvSpPr>
          <p:nvPr/>
        </p:nvSpPr>
        <p:spPr>
          <a:xfrm>
            <a:off x="685800" y="5734050"/>
            <a:ext cx="10820400" cy="9525"/>
          </a:xfrm>
          <a:prstGeom prst="rect">
            <a:avLst/>
          </a:prstGeom>
          <a:solidFill>
            <a:srgbClr val="BDBDBD"/>
          </a:solidFill>
          <a:ln w="0">
            <a:noFill/>
            <a:prstDash val="solid"/>
          </a:ln>
        </p:spPr>
        <p:txBody>
          <a:bodyPr/>
          <a:lstStyle/>
          <a:p>
            <a:endParaRPr lang="en-US"/>
          </a:p>
        </p:txBody>
      </p:sp>
      <p:sp>
        <p:nvSpPr>
          <p:cNvPr id="6" name="Rectangle 5">
            <a:extLst>
              <a:ext uri="{FF2B5EF4-FFF2-40B4-BE49-F238E27FC236}">
                <a16:creationId xmlns:a16="http://schemas.microsoft.com/office/drawing/2014/main" id="{6417384F-BD36-4F51-A37A-64F18CF4B6C3}"/>
              </a:ext>
            </a:extLst>
          </p:cNvPr>
          <p:cNvSpPr>
            <a:spLocks noGrp="1"/>
          </p:cNvSpPr>
          <p:nvPr/>
        </p:nvSpPr>
        <p:spPr>
          <a:xfrm>
            <a:off x="819150" y="5857875"/>
            <a:ext cx="10382250" cy="323850"/>
          </a:xfrm>
          <a:prstGeom prst="rect">
            <a:avLst/>
          </a:prstGeom>
          <a:noFill/>
          <a:ln w="0">
            <a:noFill/>
            <a:prstDash val="solid"/>
          </a:ln>
        </p:spPr>
        <p:txBody>
          <a:bodyPr/>
          <a:lstStyle/>
          <a:p>
            <a:pPr algn="l">
              <a:defRPr sz="1200" b="0">
                <a:solidFill>
                  <a:srgbClr val="666666"/>
                </a:solidFill>
              </a:defRPr>
            </a:pPr>
            <a:r>
              <a:rPr sz="1200" b="0">
                <a:solidFill>
                  <a:srgbClr val="666666"/>
                </a:solidFill>
              </a:rPr>
              <a:t>The proofs and intermediate algebra are developed in the consolidated TeX notes; this deck preserves the argument and the estimands.</a:t>
            </a:r>
          </a:p>
        </p:txBody>
      </p:sp>
      <p:sp>
        <p:nvSpPr>
          <p:cNvPr id="7" name="Rectangle 6">
            <a:extLst>
              <a:ext uri="{FF2B5EF4-FFF2-40B4-BE49-F238E27FC236}">
                <a16:creationId xmlns:a16="http://schemas.microsoft.com/office/drawing/2014/main" id="{1A1640F7-9790-4E67-A3C1-8DB81AEA6EAE}"/>
              </a:ext>
            </a:extLst>
          </p:cNvPr>
          <p:cNvSpPr>
            <a:spLocks noGrp="1"/>
          </p:cNvSpPr>
          <p:nvPr/>
        </p:nvSpPr>
        <p:spPr>
          <a:xfrm>
            <a:off x="685800" y="6438900"/>
            <a:ext cx="9906000" cy="171450"/>
          </a:xfrm>
          <a:prstGeom prst="rect">
            <a:avLst/>
          </a:prstGeom>
          <a:noFill/>
          <a:ln w="0">
            <a:noFill/>
            <a:prstDash val="solid"/>
          </a:ln>
        </p:spPr>
        <p:txBody>
          <a:bodyPr/>
          <a:lstStyle/>
          <a:p>
            <a:pPr algn="l">
              <a:defRPr sz="788" b="0">
                <a:solidFill>
                  <a:srgbClr val="666666"/>
                </a:solidFill>
              </a:defRPr>
            </a:pPr>
            <a:r>
              <a:rPr sz="788" b="0">
                <a:solidFill>
                  <a:srgbClr val="666666"/>
                </a:solidFill>
              </a:rPr>
              <a:t>Source: LOO note, teaching summary; merged TeX Part II</a:t>
            </a:r>
          </a:p>
        </p:txBody>
      </p:sp>
      <p:sp>
        <p:nvSpPr>
          <p:cNvPr id="8" name="Rectangle 7">
            <a:extLst>
              <a:ext uri="{FF2B5EF4-FFF2-40B4-BE49-F238E27FC236}">
                <a16:creationId xmlns:a16="http://schemas.microsoft.com/office/drawing/2014/main" id="{4D7023A4-3220-4DCD-A934-68541CF4C211}"/>
              </a:ext>
            </a:extLst>
          </p:cNvPr>
          <p:cNvSpPr>
            <a:spLocks noGrp="1"/>
          </p:cNvSpPr>
          <p:nvPr/>
        </p:nvSpPr>
        <p:spPr>
          <a:xfrm>
            <a:off x="10953750" y="6438900"/>
            <a:ext cx="552450" cy="171450"/>
          </a:xfrm>
          <a:prstGeom prst="rect">
            <a:avLst/>
          </a:prstGeom>
          <a:noFill/>
          <a:ln w="0">
            <a:noFill/>
            <a:prstDash val="solid"/>
          </a:ln>
        </p:spPr>
        <p:txBody>
          <a:bodyPr/>
          <a:lstStyle/>
          <a:p>
            <a:pPr algn="r">
              <a:defRPr sz="788" b="0">
                <a:solidFill>
                  <a:srgbClr val="666666"/>
                </a:solidFill>
              </a:defRPr>
            </a:pPr>
            <a:r>
              <a:rPr sz="788" b="0">
                <a:solidFill>
                  <a:srgbClr val="666666"/>
                </a:solidFill>
              </a:rPr>
              <a:t>21</a:t>
            </a:r>
          </a:p>
        </p:txBody>
      </p:sp>
    </p:spTree>
    <p:extLst>
      <p:ext uri="{BB962C8B-B14F-4D97-AF65-F5344CB8AC3E}">
        <p14:creationId xmlns:p14="http://schemas.microsoft.com/office/powerpoint/2010/main" val="94962251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2331</Words>
  <Application>Microsoft Office PowerPoint</Application>
  <DocSecurity>0</DocSecurity>
  <PresentationFormat>Widescreen</PresentationFormat>
  <Paragraphs>165</Paragraphs>
  <Slides>21</Slides>
  <Notes>21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Zen Ray</cp:lastModifiedBy>
  <cp:revision>1</cp:revision>
  <dcterms:created xsi:type="dcterms:W3CDTF">2026-07-22T15:01:29Z</dcterms:created>
  <dcterms:modified xsi:type="dcterms:W3CDTF">2026-07-22T15:03:30Z</dcterms:modified>
</cp:coreProperties>
</file>